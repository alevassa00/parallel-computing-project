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d60330f0ce4864" /><Relationship Type="http://schemas.openxmlformats.org/officeDocument/2006/relationships/extended-properties" Target="/docProps/app.xml" Id="Rb03fee17d19c48c8" /><Relationship Type="http://schemas.openxmlformats.org/officeDocument/2006/relationships/officeDocument" Target="/ppt/presentation.xml" Id="R11b214702b1d40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5b936ceb07491b"/>
  </p:sldMasterIdLst>
  <p:notesMasterIdLst>
    <p:notesMasterId xmlns:r="http://schemas.openxmlformats.org/officeDocument/2006/relationships" r:id="Rdc11d9aeab334f62"/>
  </p:notesMasterIdLst>
  <p:sldIdLst>
    <p:sldId xmlns:r="http://schemas.openxmlformats.org/officeDocument/2006/relationships" id="256" r:id="R3b98c7fd9afb41dc"/>
    <p:sldId xmlns:r="http://schemas.openxmlformats.org/officeDocument/2006/relationships" id="257" r:id="R16dcd4ace28b4806"/>
    <p:sldId xmlns:r="http://schemas.openxmlformats.org/officeDocument/2006/relationships" id="258" r:id="R57218fe8bc98410c"/>
    <p:sldId xmlns:r="http://schemas.openxmlformats.org/officeDocument/2006/relationships" id="259" r:id="Rae66e7786d9144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ce96241db24781" /><Relationship Type="http://schemas.openxmlformats.org/officeDocument/2006/relationships/slideMaster" Target="/ppt/slideMasters/slideMaster1.xml" Id="R795b936ceb07491b" /><Relationship Type="http://schemas.openxmlformats.org/officeDocument/2006/relationships/notesMaster" Target="/ppt/notesMasters/notesMaster1.xml" Id="Rdc11d9aeab334f62" /><Relationship Type="http://schemas.openxmlformats.org/officeDocument/2006/relationships/presProps" Target="/ppt/presProps.xml" Id="R0a9cc5e103db4205" /><Relationship Type="http://schemas.openxmlformats.org/officeDocument/2006/relationships/tableStyles" Target="/ppt/tableStyles.xml" Id="Rb6c6055d38214eb5" /><Relationship Type="http://schemas.openxmlformats.org/officeDocument/2006/relationships/slide" Target="/ppt/slides/slide1.xml" Id="R3b98c7fd9afb41dc" /><Relationship Type="http://schemas.openxmlformats.org/officeDocument/2006/relationships/slide" Target="/ppt/slides/slide2.xml" Id="R16dcd4ace28b4806" /><Relationship Type="http://schemas.openxmlformats.org/officeDocument/2006/relationships/slide" Target="/ppt/slides/slide3.xml" Id="R57218fe8bc98410c" /><Relationship Type="http://schemas.openxmlformats.org/officeDocument/2006/relationships/slide" Target="/ppt/slides/slide4.xml" Id="Rae66e7786d9144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c14c67ab15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793ac0960d4c88" /><Relationship Type="http://schemas.openxmlformats.org/officeDocument/2006/relationships/notesMaster" Target="/ppt/notesMasters/notesMaster1.xml" Id="R704705013e5845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5efce315a2498c" /><Relationship Type="http://schemas.openxmlformats.org/officeDocument/2006/relationships/notesMaster" Target="/ppt/notesMasters/notesMaster1.xml" Id="Rfc2be8565ade45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46c44777d94cbe" /><Relationship Type="http://schemas.openxmlformats.org/officeDocument/2006/relationships/notesMaster" Target="/ppt/notesMasters/notesMaster1.xml" Id="R249d4228444049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4b8179405742ff" /><Relationship Type="http://schemas.openxmlformats.org/officeDocument/2006/relationships/notesMaster" Target="/ppt/notesMasters/notesMaster1.xml" Id="R043ce63c125d49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 iterazione del ciclo j=l; j&lt;n_loc; j+=32. Lane 0 usa j=0, mantiene k accumulatori e contribuisce a tutti gli elementi Y_ic. Y viene scritta solo dopo la riduzione del warp.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lane 0 del warp della riga i visita j=0,32,64,... e aggiorna sempre gli stessi k accumulatori. Il passaggio a Y_(i+1,:) è mostrato come ingresso del warp successivo, non come spostamento della lane dello stesso warp.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 ogni j assegnato, la lane carica A_ij una volta e aggiorna acc[c] per c=0,...,k-1. Ogni lane mantiene quindi k somme parziali. La riduzione avviene separatamente per ciascuna colonna 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X row-major, lane consecutive leggono X_(j+l,c) a distanza ldx=k. Con X column-major, la stessa colonna c è memorizzata come segmento contiguo e gli indirizzi differiscono di un solo elemento.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685c050784e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5949e4fca4e3b" /><Relationship Type="http://schemas.openxmlformats.org/officeDocument/2006/relationships/slideLayout" Target="/ppt/slideLayouts/slideLayout1.xml" Id="R68f688d2d2ea44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f688d2d2ea44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0cba9c2f84698" /><Relationship Type="http://schemas.openxmlformats.org/officeDocument/2006/relationships/notesSlide" Target="/ppt/notesSlides/notesSlide1.xml" Id="R8a4ecdf9405540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14b20757c4761" /><Relationship Type="http://schemas.openxmlformats.org/officeDocument/2006/relationships/notesSlide" Target="/ppt/notesSlides/notesSlide2.xml" Id="R5ddadc6956eb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46fc1e1dd4db5" /><Relationship Type="http://schemas.openxmlformats.org/officeDocument/2006/relationships/notesSlide" Target="/ppt/notesSlides/notesSlide3.xml" Id="Rd74c21ce403a4f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ad7ab17e445b2" /><Relationship Type="http://schemas.openxmlformats.org/officeDocument/2006/relationships/notesSlide" Target="/ppt/notesSlides/notesSlide4.xml" Id="Rcc24ef71299b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EE0F2D-F616-4B2E-9052-8AC93B53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Lane 0 nel warp: prima iterazione sulla riga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5D4BF-FFE2-4A40-B7C8-E180C2E4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1CF20-2094-476B-BF4F-6B29723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D8AC7-EF1A-4B8D-9DEA-837D72D5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B099B-ABBD-4C58-A966-50EE04E5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509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57B8"/>
          </a:solidFill>
          <a:ln xmlns:a="http://schemas.openxmlformats.org/drawingml/2006/main" w="20955">
            <a:solidFill>
              <a:srgbClr val="1257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E0485-BFC8-47B4-8E89-C9337AEB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520" y="838200"/>
            <a:ext cx="83509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5D2FC-BBE2-42D9-AC6D-0514FCAB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240" y="838200"/>
            <a:ext cx="83509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7A1C7-6F68-4758-B5F3-2303CA17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959" y="838200"/>
            <a:ext cx="62401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C2FC6-262D-428C-8E3C-0ECC15C5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594" y="838200"/>
            <a:ext cx="911853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E3162-D78C-4C00-9285-CF7A3C54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072" y="838200"/>
            <a:ext cx="911853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99826-90AB-4EDA-915F-5D9A243E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warp responsabile della riga 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A2367-939A-4A20-8BA1-15690EE4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828675"/>
            <a:ext cx="2524125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257B8"/>
          </a:solidFill>
          <a:ln xmlns:a="http://schemas.openxmlformats.org/drawingml/2006/main" w="9525">
            <a:solidFill>
              <a:srgbClr val="1257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0 è il thread evidenziato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86971-F91D-407F-A762-8D811281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828675"/>
            <a:ext cx="2047875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57B8"/>
                </a:solidFill>
                <a:latin typeface="Aptos"/>
                <a:ea typeface="Aptos"/>
                <a:cs typeface="Aptos"/>
              </a:defRPr>
            </a:pPr>
            <a:r>
              <a:t>j = lane =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F9142-D219-4D1D-857E-A4EEA273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A: il warp legge 32 elementi della riga i</a:t>
            </a:r>
          </a:p>
        </p:txBody>
      </p:sp>
      <p:sp>
        <p:nvSpPr>
          <p:cNvPr id="15" name="A 0 0">
            <a:extLst xmlns:a="http://schemas.openxmlformats.org/drawingml/2006/main">
              <a:ext uri="{FF2B5EF4-FFF2-40B4-BE49-F238E27FC236}">
                <a16:creationId xmlns:a16="http://schemas.microsoft.com/office/drawing/2014/main" id="{D2F92C53-205D-4054-A4E2-8A70523A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i−1,0</a:t>
            </a:r>
          </a:p>
        </p:txBody>
      </p:sp>
      <p:sp>
        <p:nvSpPr>
          <p:cNvPr id="16" name="A 0 1">
            <a:extLst xmlns:a="http://schemas.openxmlformats.org/drawingml/2006/main">
              <a:ext uri="{FF2B5EF4-FFF2-40B4-BE49-F238E27FC236}">
                <a16:creationId xmlns:a16="http://schemas.microsoft.com/office/drawing/2014/main" id="{E8077304-2BF9-43A2-BC29-7E54D879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i−1,1</a:t>
            </a:r>
          </a:p>
        </p:txBody>
      </p:sp>
      <p:sp>
        <p:nvSpPr>
          <p:cNvPr id="17" name="A 0 2">
            <a:extLst xmlns:a="http://schemas.openxmlformats.org/drawingml/2006/main">
              <a:ext uri="{FF2B5EF4-FFF2-40B4-BE49-F238E27FC236}">
                <a16:creationId xmlns:a16="http://schemas.microsoft.com/office/drawing/2014/main" id="{CC83D9FC-0EAD-40B2-BAFF-4890B51C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09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i−1,2</a:t>
            </a:r>
          </a:p>
        </p:txBody>
      </p:sp>
      <p:sp>
        <p:nvSpPr>
          <p:cNvPr id="18" name="A 0 3">
            <a:extLst xmlns:a="http://schemas.openxmlformats.org/drawingml/2006/main">
              <a:ext uri="{FF2B5EF4-FFF2-40B4-BE49-F238E27FC236}">
                <a16:creationId xmlns:a16="http://schemas.microsoft.com/office/drawing/2014/main" id="{8B416525-F5B2-4E43-B065-9C8D21F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09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i−1,3</a:t>
            </a:r>
          </a:p>
        </p:txBody>
      </p:sp>
      <p:sp>
        <p:nvSpPr>
          <p:cNvPr id="19" name="A 0 4">
            <a:extLst xmlns:a="http://schemas.openxmlformats.org/drawingml/2006/main">
              <a:ext uri="{FF2B5EF4-FFF2-40B4-BE49-F238E27FC236}">
                <a16:creationId xmlns:a16="http://schemas.microsoft.com/office/drawing/2014/main" id="{71FEF7FA-CE7D-4F61-AE22-CEAB8DB7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09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0" name="A 0 5">
            <a:extLst xmlns:a="http://schemas.openxmlformats.org/drawingml/2006/main">
              <a:ext uri="{FF2B5EF4-FFF2-40B4-BE49-F238E27FC236}">
                <a16:creationId xmlns:a16="http://schemas.microsoft.com/office/drawing/2014/main" id="{E9E28C94-1D5E-426A-891C-77B5D3BC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i−1,30</a:t>
            </a:r>
          </a:p>
        </p:txBody>
      </p:sp>
      <p:sp>
        <p:nvSpPr>
          <p:cNvPr id="21" name="A 0 6">
            <a:extLst xmlns:a="http://schemas.openxmlformats.org/drawingml/2006/main">
              <a:ext uri="{FF2B5EF4-FFF2-40B4-BE49-F238E27FC236}">
                <a16:creationId xmlns:a16="http://schemas.microsoft.com/office/drawing/2014/main" id="{05FC60B0-C89F-4F40-9A65-EFB29E9A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i−1,31</a:t>
            </a:r>
          </a:p>
        </p:txBody>
      </p:sp>
      <p:sp>
        <p:nvSpPr>
          <p:cNvPr id="22" name="A 1 0">
            <a:extLst xmlns:a="http://schemas.openxmlformats.org/drawingml/2006/main">
              <a:ext uri="{FF2B5EF4-FFF2-40B4-BE49-F238E27FC236}">
                <a16:creationId xmlns:a16="http://schemas.microsoft.com/office/drawing/2014/main" id="{26FF1C06-24FF-4F1C-B1F0-7309BDC7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57B8"/>
          </a:solidFill>
          <a:ln xmlns:a="http://schemas.openxmlformats.org/drawingml/2006/main" w="11430">
            <a:solidFill>
              <a:srgbClr val="1257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i,0</a:t>
            </a:r>
          </a:p>
        </p:txBody>
      </p:sp>
      <p:sp>
        <p:nvSpPr>
          <p:cNvPr id="23" name="A 1 1">
            <a:extLst xmlns:a="http://schemas.openxmlformats.org/drawingml/2006/main">
              <a:ext uri="{FF2B5EF4-FFF2-40B4-BE49-F238E27FC236}">
                <a16:creationId xmlns:a16="http://schemas.microsoft.com/office/drawing/2014/main" id="{8719BD96-194A-4DF6-A74B-53468801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i,1</a:t>
            </a:r>
          </a:p>
        </p:txBody>
      </p:sp>
      <p:sp>
        <p:nvSpPr>
          <p:cNvPr id="24" name="A 1 2">
            <a:extLst xmlns:a="http://schemas.openxmlformats.org/drawingml/2006/main">
              <a:ext uri="{FF2B5EF4-FFF2-40B4-BE49-F238E27FC236}">
                <a16:creationId xmlns:a16="http://schemas.microsoft.com/office/drawing/2014/main" id="{BC5A6510-4A41-4009-B51D-5FFE46DD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90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i,2</a:t>
            </a:r>
          </a:p>
        </p:txBody>
      </p:sp>
      <p:sp>
        <p:nvSpPr>
          <p:cNvPr id="25" name="A 1 3">
            <a:extLst xmlns:a="http://schemas.openxmlformats.org/drawingml/2006/main">
              <a:ext uri="{FF2B5EF4-FFF2-40B4-BE49-F238E27FC236}">
                <a16:creationId xmlns:a16="http://schemas.microsoft.com/office/drawing/2014/main" id="{9A1DD84C-184B-48AF-9A1A-646586D6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i,3</a:t>
            </a:r>
          </a:p>
        </p:txBody>
      </p:sp>
      <p:sp>
        <p:nvSpPr>
          <p:cNvPr id="26" name="A 1 4">
            <a:extLst xmlns:a="http://schemas.openxmlformats.org/drawingml/2006/main">
              <a:ext uri="{FF2B5EF4-FFF2-40B4-BE49-F238E27FC236}">
                <a16:creationId xmlns:a16="http://schemas.microsoft.com/office/drawing/2014/main" id="{0AF3BF96-3C3E-48DB-ADCE-478B895D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7" name="A 1 5">
            <a:extLst xmlns:a="http://schemas.openxmlformats.org/drawingml/2006/main">
              <a:ext uri="{FF2B5EF4-FFF2-40B4-BE49-F238E27FC236}">
                <a16:creationId xmlns:a16="http://schemas.microsoft.com/office/drawing/2014/main" id="{D280ECBB-2871-4A84-815B-4517B05A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i,30</a:t>
            </a:r>
          </a:p>
        </p:txBody>
      </p:sp>
      <p:sp>
        <p:nvSpPr>
          <p:cNvPr id="28" name="A 1 6">
            <a:extLst xmlns:a="http://schemas.openxmlformats.org/drawingml/2006/main">
              <a:ext uri="{FF2B5EF4-FFF2-40B4-BE49-F238E27FC236}">
                <a16:creationId xmlns:a16="http://schemas.microsoft.com/office/drawing/2014/main" id="{CD756A59-7E92-4659-9E9E-E5BB6BF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90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i,31</a:t>
            </a:r>
          </a:p>
        </p:txBody>
      </p:sp>
      <p:sp>
        <p:nvSpPr>
          <p:cNvPr id="29" name="A 2 0">
            <a:extLst xmlns:a="http://schemas.openxmlformats.org/drawingml/2006/main">
              <a:ext uri="{FF2B5EF4-FFF2-40B4-BE49-F238E27FC236}">
                <a16:creationId xmlns:a16="http://schemas.microsoft.com/office/drawing/2014/main" id="{C49C2DA4-E8E2-45A5-8AFB-6BF640D4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i+1,0</a:t>
            </a:r>
          </a:p>
        </p:txBody>
      </p:sp>
      <p:sp>
        <p:nvSpPr>
          <p:cNvPr id="30" name="A 2 1">
            <a:extLst xmlns:a="http://schemas.openxmlformats.org/drawingml/2006/main">
              <a:ext uri="{FF2B5EF4-FFF2-40B4-BE49-F238E27FC236}">
                <a16:creationId xmlns:a16="http://schemas.microsoft.com/office/drawing/2014/main" id="{AEBED873-BBB1-4301-B00E-53737B9C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i+1,1</a:t>
            </a:r>
          </a:p>
        </p:txBody>
      </p:sp>
      <p:sp>
        <p:nvSpPr>
          <p:cNvPr id="31" name="A 2 2">
            <a:extLst xmlns:a="http://schemas.openxmlformats.org/drawingml/2006/main">
              <a:ext uri="{FF2B5EF4-FFF2-40B4-BE49-F238E27FC236}">
                <a16:creationId xmlns:a16="http://schemas.microsoft.com/office/drawing/2014/main" id="{750C72F5-FAEF-4A4B-BA01-C15FAC21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i+1,2</a:t>
            </a:r>
          </a:p>
        </p:txBody>
      </p:sp>
      <p:sp>
        <p:nvSpPr>
          <p:cNvPr id="32" name="A 2 3">
            <a:extLst xmlns:a="http://schemas.openxmlformats.org/drawingml/2006/main">
              <a:ext uri="{FF2B5EF4-FFF2-40B4-BE49-F238E27FC236}">
                <a16:creationId xmlns:a16="http://schemas.microsoft.com/office/drawing/2014/main" id="{C84E5C0B-99EF-4330-AC05-596B27B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71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i+1,3</a:t>
            </a:r>
          </a:p>
        </p:txBody>
      </p:sp>
      <p:sp>
        <p:nvSpPr>
          <p:cNvPr id="33" name="A 2 4">
            <a:extLst xmlns:a="http://schemas.openxmlformats.org/drawingml/2006/main">
              <a:ext uri="{FF2B5EF4-FFF2-40B4-BE49-F238E27FC236}">
                <a16:creationId xmlns:a16="http://schemas.microsoft.com/office/drawing/2014/main" id="{BEBF34CB-4E61-4974-9661-A20DC851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4" name="A 2 5">
            <a:extLst xmlns:a="http://schemas.openxmlformats.org/drawingml/2006/main">
              <a:ext uri="{FF2B5EF4-FFF2-40B4-BE49-F238E27FC236}">
                <a16:creationId xmlns:a16="http://schemas.microsoft.com/office/drawing/2014/main" id="{9E2D86C5-1FF5-4AC3-9F01-187DCD28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i+1,30</a:t>
            </a:r>
          </a:p>
        </p:txBody>
      </p:sp>
      <p:sp>
        <p:nvSpPr>
          <p:cNvPr id="35" name="A 2 6">
            <a:extLst xmlns:a="http://schemas.openxmlformats.org/drawingml/2006/main">
              <a:ext uri="{FF2B5EF4-FFF2-40B4-BE49-F238E27FC236}">
                <a16:creationId xmlns:a16="http://schemas.microsoft.com/office/drawing/2014/main" id="{3BEC8F63-2078-4234-8D2D-BCFB165B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717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i+1,31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8BBEB2-55B8-475C-98A6-CB789293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00375"/>
            <a:ext cx="59055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257B8"/>
          </a:solidFill>
          <a:ln xmlns:a="http://schemas.openxmlformats.org/drawingml/2006/main" w="9525">
            <a:solidFill>
              <a:srgbClr val="1257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925FDC-3B50-41F2-ADBC-9643E741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67050"/>
            <a:ext cx="5238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57B8"/>
          </a:solidFill>
          <a:ln xmlns:a="http://schemas.openxmlformats.org/drawingml/2006/main" w="4763">
            <a:solidFill>
              <a:srgbClr val="1257B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02FA14-E42F-4EB6-8F92-1C5F115B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4322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425" i="0">
                <a:latin typeface="Cambria Math"/>
                <a:ea typeface="Cambria Math"/>
                <a:cs typeface="Cambria Math"/>
              </a:rPr>
              <a:t>A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i0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8CA55B-910D-4B46-93B7-A32DE80E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432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i="0">
                <a:latin typeface="Aptos"/>
                <a:ea typeface="Aptos"/>
                <a:cs typeface="Aptos"/>
              </a:rPr>
              <a:t>le altre lane coprono A</a:t>
            </a:r>
            <a:r>
              <a:rPr sz="810" i="0" baseline="-25000">
                <a:latin typeface="Aptos"/>
                <a:ea typeface="Aptos"/>
                <a:cs typeface="Aptos"/>
              </a:rPr>
              <a:t>i1</a:t>
            </a:r>
            <a:r>
              <a:rPr sz="1125" i="0">
                <a:latin typeface="Aptos"/>
                <a:ea typeface="Aptos"/>
                <a:cs typeface="Aptos"/>
              </a:rPr>
              <a:t>, …, A</a:t>
            </a:r>
            <a:r>
              <a:rPr sz="810" i="0" baseline="-25000">
                <a:latin typeface="Aptos"/>
                <a:ea typeface="Aptos"/>
                <a:cs typeface="Aptos"/>
              </a:rPr>
              <a:t>i31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90453-8535-41D4-95C7-15E3D60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097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X: lane 0 attraversa tutte le k colonne</a:t>
            </a:r>
          </a:p>
        </p:txBody>
      </p:sp>
      <p:sp>
        <p:nvSpPr>
          <p:cNvPr id="41" name="X 0 0">
            <a:extLst xmlns:a="http://schemas.openxmlformats.org/drawingml/2006/main">
              <a:ext uri="{FF2B5EF4-FFF2-40B4-BE49-F238E27FC236}">
                <a16:creationId xmlns:a16="http://schemas.microsoft.com/office/drawing/2014/main" id="{2FC23505-4718-43CA-A5B3-8BE2162E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42" name="X 0 1">
            <a:extLst xmlns:a="http://schemas.openxmlformats.org/drawingml/2006/main">
              <a:ext uri="{FF2B5EF4-FFF2-40B4-BE49-F238E27FC236}">
                <a16:creationId xmlns:a16="http://schemas.microsoft.com/office/drawing/2014/main" id="{1DE662AB-6A4C-4D90-8596-BF1E75C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43" name="X 0 2">
            <a:extLst xmlns:a="http://schemas.openxmlformats.org/drawingml/2006/main">
              <a:ext uri="{FF2B5EF4-FFF2-40B4-BE49-F238E27FC236}">
                <a16:creationId xmlns:a16="http://schemas.microsoft.com/office/drawing/2014/main" id="{D9099A2B-4ADE-46EE-AB3D-903DAD77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0,2</a:t>
            </a:r>
          </a:p>
        </p:txBody>
      </p:sp>
      <p:sp>
        <p:nvSpPr>
          <p:cNvPr id="44" name="X 0 3">
            <a:extLst xmlns:a="http://schemas.openxmlformats.org/drawingml/2006/main">
              <a:ext uri="{FF2B5EF4-FFF2-40B4-BE49-F238E27FC236}">
                <a16:creationId xmlns:a16="http://schemas.microsoft.com/office/drawing/2014/main" id="{1E48F1F3-02B3-40B6-BD50-7D32A549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45" name="X 0 4">
            <a:extLst xmlns:a="http://schemas.openxmlformats.org/drawingml/2006/main">
              <a:ext uri="{FF2B5EF4-FFF2-40B4-BE49-F238E27FC236}">
                <a16:creationId xmlns:a16="http://schemas.microsoft.com/office/drawing/2014/main" id="{91A18E88-3A2A-4929-8953-9AB138D7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0,k−1</a:t>
            </a:r>
          </a:p>
        </p:txBody>
      </p:sp>
      <p:sp>
        <p:nvSpPr>
          <p:cNvPr id="46" name="X 1 0">
            <a:extLst xmlns:a="http://schemas.openxmlformats.org/drawingml/2006/main">
              <a:ext uri="{FF2B5EF4-FFF2-40B4-BE49-F238E27FC236}">
                <a16:creationId xmlns:a16="http://schemas.microsoft.com/office/drawing/2014/main" id="{5AD42923-6AB7-4ACC-8CE9-09D63534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90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1,0</a:t>
            </a:r>
          </a:p>
        </p:txBody>
      </p:sp>
      <p:sp>
        <p:nvSpPr>
          <p:cNvPr id="47" name="X 1 1">
            <a:extLst xmlns:a="http://schemas.openxmlformats.org/drawingml/2006/main">
              <a:ext uri="{FF2B5EF4-FFF2-40B4-BE49-F238E27FC236}">
                <a16:creationId xmlns:a16="http://schemas.microsoft.com/office/drawing/2014/main" id="{A84F6E18-97BF-4F25-A5FC-058D3117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1,1</a:t>
            </a:r>
          </a:p>
        </p:txBody>
      </p:sp>
      <p:sp>
        <p:nvSpPr>
          <p:cNvPr id="48" name="X 1 2">
            <a:extLst xmlns:a="http://schemas.openxmlformats.org/drawingml/2006/main">
              <a:ext uri="{FF2B5EF4-FFF2-40B4-BE49-F238E27FC236}">
                <a16:creationId xmlns:a16="http://schemas.microsoft.com/office/drawing/2014/main" id="{1FAB3AF4-574D-402A-B546-A477969D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1,2</a:t>
            </a:r>
          </a:p>
        </p:txBody>
      </p:sp>
      <p:sp>
        <p:nvSpPr>
          <p:cNvPr id="49" name="X 1 3">
            <a:extLst xmlns:a="http://schemas.openxmlformats.org/drawingml/2006/main">
              <a:ext uri="{FF2B5EF4-FFF2-40B4-BE49-F238E27FC236}">
                <a16:creationId xmlns:a16="http://schemas.microsoft.com/office/drawing/2014/main" id="{F0893C48-2BD5-4F71-854C-8EF59AA9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90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0" name="X 1 4">
            <a:extLst xmlns:a="http://schemas.openxmlformats.org/drawingml/2006/main">
              <a:ext uri="{FF2B5EF4-FFF2-40B4-BE49-F238E27FC236}">
                <a16:creationId xmlns:a16="http://schemas.microsoft.com/office/drawing/2014/main" id="{21C09725-5668-4A7B-B97E-27B281A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1,k−1</a:t>
            </a:r>
          </a:p>
        </p:txBody>
      </p:sp>
      <p:sp>
        <p:nvSpPr>
          <p:cNvPr id="51" name="X 2 0">
            <a:extLst xmlns:a="http://schemas.openxmlformats.org/drawingml/2006/main">
              <a:ext uri="{FF2B5EF4-FFF2-40B4-BE49-F238E27FC236}">
                <a16:creationId xmlns:a16="http://schemas.microsoft.com/office/drawing/2014/main" id="{E908F6DB-025D-4E54-BEBE-A8372D0C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2,0</a:t>
            </a:r>
          </a:p>
        </p:txBody>
      </p:sp>
      <p:sp>
        <p:nvSpPr>
          <p:cNvPr id="52" name="X 2 1">
            <a:extLst xmlns:a="http://schemas.openxmlformats.org/drawingml/2006/main">
              <a:ext uri="{FF2B5EF4-FFF2-40B4-BE49-F238E27FC236}">
                <a16:creationId xmlns:a16="http://schemas.microsoft.com/office/drawing/2014/main" id="{409FABA1-D43E-4BA8-8C80-735F38A5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2,1</a:t>
            </a:r>
          </a:p>
        </p:txBody>
      </p:sp>
      <p:sp>
        <p:nvSpPr>
          <p:cNvPr id="53" name="X 2 2">
            <a:extLst xmlns:a="http://schemas.openxmlformats.org/drawingml/2006/main">
              <a:ext uri="{FF2B5EF4-FFF2-40B4-BE49-F238E27FC236}">
                <a16:creationId xmlns:a16="http://schemas.microsoft.com/office/drawing/2014/main" id="{50133C08-C89B-46BF-A0D1-5A811892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2,2</a:t>
            </a:r>
          </a:p>
        </p:txBody>
      </p:sp>
      <p:sp>
        <p:nvSpPr>
          <p:cNvPr id="54" name="X 2 3">
            <a:extLst xmlns:a="http://schemas.openxmlformats.org/drawingml/2006/main">
              <a:ext uri="{FF2B5EF4-FFF2-40B4-BE49-F238E27FC236}">
                <a16:creationId xmlns:a16="http://schemas.microsoft.com/office/drawing/2014/main" id="{946A03A8-40E6-48B8-9000-8E9E5834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55" name="X 2 4">
            <a:extLst xmlns:a="http://schemas.openxmlformats.org/drawingml/2006/main">
              <a:ext uri="{FF2B5EF4-FFF2-40B4-BE49-F238E27FC236}">
                <a16:creationId xmlns:a16="http://schemas.microsoft.com/office/drawing/2014/main" id="{86450230-34C7-467D-B8AA-601AEB24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2,k−1</a:t>
            </a:r>
          </a:p>
        </p:txBody>
      </p:sp>
      <p:sp>
        <p:nvSpPr>
          <p:cNvPr id="56" name="X 3 0">
            <a:extLst xmlns:a="http://schemas.openxmlformats.org/drawingml/2006/main">
              <a:ext uri="{FF2B5EF4-FFF2-40B4-BE49-F238E27FC236}">
                <a16:creationId xmlns:a16="http://schemas.microsoft.com/office/drawing/2014/main" id="{3721A2A1-8A0B-44B6-84CC-B48C77AD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3,0</a:t>
            </a:r>
          </a:p>
        </p:txBody>
      </p:sp>
      <p:sp>
        <p:nvSpPr>
          <p:cNvPr id="57" name="X 3 1">
            <a:extLst xmlns:a="http://schemas.openxmlformats.org/drawingml/2006/main">
              <a:ext uri="{FF2B5EF4-FFF2-40B4-BE49-F238E27FC236}">
                <a16:creationId xmlns:a16="http://schemas.microsoft.com/office/drawing/2014/main" id="{CD175969-5554-4357-9EE6-D08C24B9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3,1</a:t>
            </a:r>
          </a:p>
        </p:txBody>
      </p:sp>
      <p:sp>
        <p:nvSpPr>
          <p:cNvPr id="58" name="X 3 2">
            <a:extLst xmlns:a="http://schemas.openxmlformats.org/drawingml/2006/main">
              <a:ext uri="{FF2B5EF4-FFF2-40B4-BE49-F238E27FC236}">
                <a16:creationId xmlns:a16="http://schemas.microsoft.com/office/drawing/2014/main" id="{1BD2744D-F13F-4595-B028-732BD6E3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3,2</a:t>
            </a:r>
          </a:p>
        </p:txBody>
      </p:sp>
      <p:sp>
        <p:nvSpPr>
          <p:cNvPr id="59" name="X 3 3">
            <a:extLst xmlns:a="http://schemas.openxmlformats.org/drawingml/2006/main">
              <a:ext uri="{FF2B5EF4-FFF2-40B4-BE49-F238E27FC236}">
                <a16:creationId xmlns:a16="http://schemas.microsoft.com/office/drawing/2014/main" id="{8B7D0901-D904-45D5-A227-2B17DDB8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0" name="X 3 4">
            <a:extLst xmlns:a="http://schemas.openxmlformats.org/drawingml/2006/main">
              <a:ext uri="{FF2B5EF4-FFF2-40B4-BE49-F238E27FC236}">
                <a16:creationId xmlns:a16="http://schemas.microsoft.com/office/drawing/2014/main" id="{66B382B1-1FCC-4A6E-974B-F0019F22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60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3,k−1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0B1EDA-8F4A-49EE-BE95-8EF394EC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400425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E63CE"/>
                </a:solidFill>
                <a:latin typeface="Cambria Math"/>
                <a:ea typeface="Cambria Math"/>
                <a:cs typeface="Cambria Math"/>
              </a:defRPr>
            </a:pPr>
            <a:r>
              <a:rPr sz="1425" i="0">
                <a:latin typeface="Cambria Math"/>
                <a:ea typeface="Cambria Math"/>
                <a:cs typeface="Cambria Math"/>
              </a:rPr>
              <a:t>X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00</a:t>
            </a:r>
            <a:r>
              <a:rPr sz="1425" i="0">
                <a:latin typeface="Cambria Math"/>
                <a:ea typeface="Cambria Math"/>
                <a:cs typeface="Cambria Math"/>
              </a:rPr>
              <a:t>, X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01</a:t>
            </a:r>
            <a:r>
              <a:rPr sz="1425" i="0">
                <a:latin typeface="Cambria Math"/>
                <a:ea typeface="Cambria Math"/>
                <a:cs typeface="Cambria Math"/>
              </a:rPr>
              <a:t>, …, X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0,k−1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6216DD-098D-4143-927A-AC20BF8C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9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Y: contributo alla riga i</a:t>
            </a:r>
          </a:p>
        </p:txBody>
      </p:sp>
      <p:sp>
        <p:nvSpPr>
          <p:cNvPr id="63" name="Y 0">
            <a:extLst xmlns:a="http://schemas.openxmlformats.org/drawingml/2006/main">
              <a:ext uri="{FF2B5EF4-FFF2-40B4-BE49-F238E27FC236}">
                <a16:creationId xmlns:a16="http://schemas.microsoft.com/office/drawing/2014/main" id="{6BF95FD9-9EEE-432C-8180-6940C0B2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14525"/>
            <a:ext cx="51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11430">
            <a:solidFill>
              <a:srgbClr val="F2B705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Y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i,0</a:t>
            </a:r>
          </a:p>
        </p:txBody>
      </p:sp>
      <p:sp>
        <p:nvSpPr>
          <p:cNvPr id="64" name="Y 1">
            <a:extLst xmlns:a="http://schemas.openxmlformats.org/drawingml/2006/main">
              <a:ext uri="{FF2B5EF4-FFF2-40B4-BE49-F238E27FC236}">
                <a16:creationId xmlns:a16="http://schemas.microsoft.com/office/drawing/2014/main" id="{0FF38B23-BE61-4903-9BCA-F3CCB514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14525"/>
            <a:ext cx="51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11430">
            <a:solidFill>
              <a:srgbClr val="F2B705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Y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i,1</a:t>
            </a:r>
          </a:p>
        </p:txBody>
      </p:sp>
      <p:sp>
        <p:nvSpPr>
          <p:cNvPr id="65" name="Y 2">
            <a:extLst xmlns:a="http://schemas.openxmlformats.org/drawingml/2006/main">
              <a:ext uri="{FF2B5EF4-FFF2-40B4-BE49-F238E27FC236}">
                <a16:creationId xmlns:a16="http://schemas.microsoft.com/office/drawing/2014/main" id="{52228555-D917-4D5F-B8D2-84502704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14525"/>
            <a:ext cx="51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11430">
            <a:solidFill>
              <a:srgbClr val="F2B705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66" name="Y 3">
            <a:extLst xmlns:a="http://schemas.openxmlformats.org/drawingml/2006/main">
              <a:ext uri="{FF2B5EF4-FFF2-40B4-BE49-F238E27FC236}">
                <a16:creationId xmlns:a16="http://schemas.microsoft.com/office/drawing/2014/main" id="{18008B9F-318E-48D1-B01E-0E8A941B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914525"/>
            <a:ext cx="51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11430">
            <a:solidFill>
              <a:srgbClr val="F2B705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i="0">
                <a:latin typeface="Cambria Math"/>
                <a:ea typeface="Cambria Math"/>
                <a:cs typeface="Cambria Math"/>
              </a:rPr>
              <a:t>Y</a:t>
            </a:r>
            <a:r>
              <a:rPr sz="702" i="0" baseline="-25000">
                <a:latin typeface="Cambria Math"/>
                <a:ea typeface="Cambria Math"/>
                <a:cs typeface="Cambria Math"/>
              </a:rPr>
              <a:t>i,k−1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805C5CE-A70B-4AF6-9A1A-4066A75C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717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9525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t>lane 0 non scrive ancora 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246567-B9E7-4C55-82CC-03D905A5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2860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t>aggiorna k accumulatori privati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E23550-652B-4DCC-B45C-34A6A495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343150"/>
            <a:ext cx="590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1596E2-95F7-4EDD-8BAC-F67CC18D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1E61DB-2E03-499E-9A94-378870F8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0025"/>
            <a:ext cx="523875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12383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875" i="0">
                <a:latin typeface="Cambria Math"/>
                <a:ea typeface="Cambria Math"/>
                <a:cs typeface="Cambria Math"/>
              </a:rPr>
              <a:t>acc[c] += A</a:t>
            </a:r>
            <a:r>
              <a:rPr sz="1350" i="0" baseline="-25000">
                <a:latin typeface="Cambria Math"/>
                <a:ea typeface="Cambria Math"/>
                <a:cs typeface="Cambria Math"/>
              </a:rPr>
              <a:t>i0</a:t>
            </a:r>
            <a:r>
              <a:rPr sz="1875" i="0">
                <a:latin typeface="Cambria Math"/>
                <a:ea typeface="Cambria Math"/>
                <a:cs typeface="Cambria Math"/>
              </a:rPr>
              <a:t> × X</a:t>
            </a:r>
            <a:r>
              <a:rPr sz="1350" i="0" baseline="-25000">
                <a:latin typeface="Cambria Math"/>
                <a:ea typeface="Cambria Math"/>
                <a:cs typeface="Cambria Math"/>
              </a:rPr>
              <a:t>0c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26EF4D-5E7A-410A-B2AF-F07C6FC6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95825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57B8"/>
                </a:solidFill>
                <a:latin typeface="Aptos"/>
                <a:ea typeface="Aptos"/>
                <a:cs typeface="Aptos"/>
              </a:defRPr>
            </a:pPr>
            <a:r>
              <a:t>prima iterazione del ciclo: le lane usano j = 0, 1, …, 31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62CD74D-B1B2-4E4A-83D8-7F34DF1F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994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27533C-2AB7-404C-8B89-973A180E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0673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t>BARRIERA CONCETTUALE TRA DUE ITERAZIONI DEL CICLO SU j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D3E9E05-8191-4A93-AAB6-BB9ED104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75" i="0">
                <a:latin typeface="Aptos"/>
                <a:ea typeface="Aptos"/>
                <a:cs typeface="Aptos"/>
              </a:rPr>
              <a:t>Lane 0 usa A</a:t>
            </a:r>
            <a:r>
              <a:rPr sz="1134" i="0" baseline="-25000">
                <a:latin typeface="Aptos"/>
                <a:ea typeface="Aptos"/>
                <a:cs typeface="Aptos"/>
              </a:rPr>
              <a:t>i0</a:t>
            </a:r>
            <a:r>
              <a:rPr sz="1575" i="0">
                <a:latin typeface="Aptos"/>
                <a:ea typeface="Aptos"/>
                <a:cs typeface="Aptos"/>
              </a:rPr>
              <a:t> e l’intera riga X</a:t>
            </a:r>
            <a:r>
              <a:rPr sz="1134" i="0" baseline="-25000">
                <a:latin typeface="Aptos"/>
                <a:ea typeface="Aptos"/>
                <a:cs typeface="Aptos"/>
              </a:rPr>
              <a:t>0:</a:t>
            </a:r>
            <a:r>
              <a:rPr sz="1575" i="0">
                <a:latin typeface="Aptos"/>
                <a:ea typeface="Aptos"/>
                <a:cs typeface="Aptos"/>
              </a:rPr>
              <a:t>; le altre 31 lane elaborano gli indici 1…31</a:t>
            </a:r>
          </a:p>
        </p:txBody>
      </p:sp>
    </p:spTree>
    <p:extLst>
      <p:ext uri="{BB962C8B-B14F-4D97-AF65-F5344CB8AC3E}">
        <p14:creationId xmlns:p14="http://schemas.microsoft.com/office/powerpoint/2010/main" val="1523093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8F4C80-0629-4D96-9932-1E96A9FE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Seconda iterazione: lane 0 passa da j = 0 a j = 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9D95E-1BA3-42A9-9F16-F6877DFC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0D644-273B-4BA3-807F-BBD3416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8CFD1-FD5F-40E6-9E45-9BD38A2C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1EBC6-DDB4-4B38-9854-C663CB01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Matrice A concettualmente più larga di 32 colonne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B7D82-7081-4BC6-8F36-21E081A7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638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666AD-7D98-4248-9B2C-84871336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200150"/>
            <a:ext cx="638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7E5D1-84C4-4566-B71F-6021C719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200150"/>
            <a:ext cx="638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4EE19-1CDA-415F-BE16-28B8E54A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200150"/>
            <a:ext cx="638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455B0-18E7-45F0-85A8-38464E1F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00150"/>
            <a:ext cx="638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39CC4-3255-4AEA-8FB8-BDA9E4D7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0150"/>
            <a:ext cx="638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5EBF1-825D-4D22-BBA3-B90983AB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00150"/>
            <a:ext cx="638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57B8"/>
          </a:solidFill>
          <a:ln xmlns:a="http://schemas.openxmlformats.org/drawingml/2006/main" w="11430">
            <a:solidFill>
              <a:srgbClr val="1257B8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4EE67-7175-448B-BA55-75B33989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200150"/>
            <a:ext cx="638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78A1E-2FB3-43A7-9817-C01F1250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200150"/>
            <a:ext cx="638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2E968-11A7-4BEE-BD8D-95399D7F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00150"/>
            <a:ext cx="638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A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i,63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EB4D0-A692-4411-B765-09183215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iterazione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64D8E-818E-4F1F-863E-45395AAD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260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t>iterazione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BA6AB-B093-48B2-B2BA-64F5EC1D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8585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99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A1101-AFA5-4474-B688-85CBF9A5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95500"/>
            <a:ext cx="1076325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j += 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1EF30-8799-4224-A2CD-CA52337E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05075"/>
            <a:ext cx="397192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57B8"/>
          </a:solidFill>
          <a:ln xmlns:a="http://schemas.openxmlformats.org/drawingml/2006/main" w="4763">
            <a:solidFill>
              <a:srgbClr val="1257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7B970-EBF6-4E72-97A8-6F807EE7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955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650" i="0">
                <a:latin typeface="Cambria Math"/>
                <a:ea typeface="Cambria Math"/>
                <a:cs typeface="Cambria Math"/>
              </a:rPr>
              <a:t>lane 0:  A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i0</a:t>
            </a:r>
            <a:r>
              <a:rPr sz="1650" i="0">
                <a:latin typeface="Cambria Math"/>
                <a:ea typeface="Cambria Math"/>
                <a:cs typeface="Cambria Math"/>
              </a:rPr>
              <a:t>  →  A</a:t>
            </a:r>
            <a:r>
              <a:rPr sz="1188" i="0" baseline="-25000">
                <a:latin typeface="Cambria Math"/>
                <a:ea typeface="Cambria Math"/>
                <a:cs typeface="Cambria Math"/>
              </a:rPr>
              <a:t>i,32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0599F-042E-4A79-9C64-2803D928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42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Accessi corrispondenti in 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6B369-2538-4725-8EEB-CD1A4E8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192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0,0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4317F-C75B-4110-B49D-19758F3C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32,0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3F5B4E-174E-4BC8-BCBE-1D4A4E7C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192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0,1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754C5-234E-41F0-A3A6-D55D7EE4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32,1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59652-97A0-4C71-915C-C92F960E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192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32AA39-CE80-4363-9AC8-3FDF7D16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04F038-721B-43E3-85C8-D33D5543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2192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0,k−1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6025DA-1283-4378-A2E7-FF186922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9070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32,k−1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9367C7-CE35-4B89-A40F-4558B8FD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238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j = 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A48CA-F01E-41F4-BB4A-DFEF621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09750"/>
            <a:ext cx="790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t>j = 32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92FA0C-9263-40EE-B810-14C2D794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76475"/>
            <a:ext cx="171450" cy="4476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A5B1C8-6E7B-4377-8E3E-02BF5460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33675"/>
            <a:ext cx="2381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9525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t>stessi k accumulatori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08D894-715B-45A2-B47B-16C12DA4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 riga di Y non cambia durante il ciclo su j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6C20C6-E698-462A-BF13-18FCE435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11430">
            <a:solidFill>
              <a:srgbClr val="F2B705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Y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i,0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C2D6EC-5026-4F81-B47A-E3BD3F2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87667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11430">
            <a:solidFill>
              <a:srgbClr val="F2B705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Y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i,1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A84B83-0D86-44EA-947F-29B86661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7667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11430">
            <a:solidFill>
              <a:srgbClr val="F2B705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437C6A-C994-4619-96A1-6FE3396F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11430">
            <a:solidFill>
              <a:srgbClr val="F2B705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i="0">
                <a:latin typeface="Cambria Math"/>
                <a:ea typeface="Cambria Math"/>
                <a:cs typeface="Cambria Math"/>
              </a:rPr>
              <a:t>Y</a:t>
            </a:r>
            <a:r>
              <a:rPr sz="810" i="0" baseline="-25000">
                <a:latin typeface="Cambria Math"/>
                <a:ea typeface="Cambria Math"/>
                <a:cs typeface="Cambria Math"/>
              </a:rPr>
              <a:t>i,k−1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65CA13-F70A-4D8A-A750-ED1BA3E9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57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275" i="0">
                <a:latin typeface="Aptos"/>
                <a:ea typeface="Aptos"/>
                <a:cs typeface="Aptos"/>
              </a:rPr>
              <a:t>i contributi di j=0 e j=32 confluiscono negli stessi acc[c]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234DFF-781B-4235-9ADE-ED4670D1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5019675" cy="1724025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C6DC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2534AA-8E72-4A1C-ACAE-DA3AD7D6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671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Solo dopo la riduzione si passa alla riga sotto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DCBB79-3405-44A9-AAD8-28C68C45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24300"/>
            <a:ext cx="15240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57B8"/>
          </a:solidFill>
          <a:ln xmlns:a="http://schemas.openxmlformats.org/drawingml/2006/main" w="9525">
            <a:solidFill>
              <a:srgbClr val="1257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warp della riga 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219CEA-EF38-4083-8CFD-288F444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8D1C5A-F4D8-4761-B24E-20021C66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24300"/>
            <a:ext cx="16192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425" i="0">
                <a:latin typeface="Cambria Math"/>
                <a:ea typeface="Cambria Math"/>
                <a:cs typeface="Cambria Math"/>
              </a:rPr>
              <a:t>scrive Y</a:t>
            </a:r>
            <a:r>
              <a:rPr sz="1026" i="0" baseline="-25000">
                <a:latin typeface="Cambria Math"/>
                <a:ea typeface="Cambria Math"/>
                <a:cs typeface="Cambria Math"/>
              </a:rPr>
              <a:t>i: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512419-1F28-4562-9029-32BE8CC0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71975"/>
            <a:ext cx="17145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A8FF11-1D92-4665-A033-AC65A3D3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00600"/>
            <a:ext cx="15240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warp successivo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133280-D939-439C-B08E-F8C8A8B6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768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5C9C88-A455-41AA-8D81-450A4521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800600"/>
            <a:ext cx="1885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inizia la riga Y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i+1,: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95B18C-F231-4B01-BE5E-5943765F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 stessa lane del warp visita j = 0, 32, 64, …; una nuova riga di Y appartiene a un altro warp</a:t>
            </a:r>
          </a:p>
        </p:txBody>
      </p:sp>
    </p:spTree>
    <p:extLst>
      <p:ext uri="{BB962C8B-B14F-4D97-AF65-F5344CB8AC3E}">
        <p14:creationId xmlns:p14="http://schemas.microsoft.com/office/powerpoint/2010/main" val="902194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F403D9-4A42-4803-B1AF-17D40E7D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Lane 0 mantiene k accumulatori privati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101B0-9B7E-4CD4-AD66-1C911EBF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E35B5-E405-4CFB-9D82-7CE71B4F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642C0-2B43-49DE-8BCC-8790C69E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4777E-D951-478E-9DBB-0DA663AA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859169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57B8"/>
          </a:solidFill>
          <a:ln xmlns:a="http://schemas.openxmlformats.org/drawingml/2006/main" w="20955">
            <a:solidFill>
              <a:srgbClr val="1257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97D27-B181-4AD7-AADB-57ED2776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94" y="828675"/>
            <a:ext cx="859169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7881A-6817-4AD0-A624-36C7C3FF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88" y="828675"/>
            <a:ext cx="859169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62A0C-58B9-4DEC-BF8D-50088D9A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82" y="828675"/>
            <a:ext cx="642327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C5B05-0D6C-4824-855C-4944B73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134" y="828675"/>
            <a:ext cx="938021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A361B-2371-463F-8453-5EFB0E1A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779" y="828675"/>
            <a:ext cx="938021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lane 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81C3A-99D7-4356-8994-6BDDDF5A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38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warp responsabile della riga 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8FA84-324F-4E60-9C00-3D3C2268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00100"/>
            <a:ext cx="46863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Ogni lane possiede il proprio array acc[0…k−1]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4009B-70EC-4FE1-8948-A8BAE759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Un solo valore di A viene riutilizzato k volte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56ACF-5DAF-4BB9-A34B-BA8DBF2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5240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2175" i="0">
                <a:latin typeface="Cambria Math"/>
                <a:ea typeface="Cambria Math"/>
                <a:cs typeface="Cambria Math"/>
              </a:rPr>
              <a:t>A</a:t>
            </a:r>
            <a:r>
              <a:rPr sz="1566" i="0" baseline="-25000">
                <a:latin typeface="Cambria Math"/>
                <a:ea typeface="Cambria Math"/>
                <a:cs typeface="Cambria Math"/>
              </a:rPr>
              <a:t>ij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D7836-C982-4F13-AD35-F495E269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caricato una volta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287CB-C1E7-4FE9-8D97-6AF25786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002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22CD3-F5E4-46CF-84CD-D058F2EC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43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X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j0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BD198-AEEC-4AB7-9318-DD329828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43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X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j1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BA39B-187C-43C0-A3C2-14C7C7DC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943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X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j2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5ABB0-AE95-4221-B325-39ABFFD7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43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79211-3E7E-4927-9EBC-27FDC9B6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43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75" i="0">
                <a:latin typeface="Cambria Math"/>
                <a:ea typeface="Cambria Math"/>
                <a:cs typeface="Cambria Math"/>
              </a:rPr>
              <a:t>X</a:t>
            </a:r>
            <a:r>
              <a:rPr sz="918" i="0" baseline="-25000">
                <a:latin typeface="Cambria Math"/>
                <a:ea typeface="Cambria Math"/>
                <a:cs typeface="Cambria Math"/>
              </a:rPr>
              <a:t>j,k−1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41FD6-4ECD-4AEF-BDE8-A9F45962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5747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i="0">
                <a:latin typeface="Aptos"/>
                <a:ea typeface="Aptos"/>
                <a:cs typeface="Aptos"/>
              </a:rPr>
              <a:t>k moltiplicazioni con lo stesso A</a:t>
            </a:r>
            <a:r>
              <a:rPr sz="972" i="0" baseline="-25000">
                <a:latin typeface="Aptos"/>
                <a:ea typeface="Aptos"/>
                <a:cs typeface="Aptos"/>
              </a:rPr>
              <a:t>ij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FBB17-87A5-4CA6-82AD-0CDE4C78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261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Accumulatori della lane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E9731-3E5E-41A9-BAE0-5AC9AC94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1714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1C062-D15D-4E0D-8C6D-0E92B9D7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486150"/>
            <a:ext cx="14097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acc[0]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ABFC2-FCF8-4FF4-A3CA-B4FBCCD0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F80ED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+= 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ij</a:t>
            </a:r>
            <a:r>
              <a:rPr sz="1050" i="0">
                <a:latin typeface="Cambria Math"/>
                <a:ea typeface="Cambria Math"/>
                <a:cs typeface="Cambria Math"/>
              </a:rPr>
              <a:t> × 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j0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48074-0DEE-4956-95D1-9BFE97D8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1714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6F99CA-D385-4D9F-B6FD-DE586962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86150"/>
            <a:ext cx="14097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acc[1]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77C15-F071-4187-AF95-9FB532A5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100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7AE60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+= 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ij</a:t>
            </a:r>
            <a:r>
              <a:rPr sz="1050" i="0">
                <a:latin typeface="Cambria Math"/>
                <a:ea typeface="Cambria Math"/>
                <a:cs typeface="Cambria Math"/>
              </a:rPr>
              <a:t> × 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j1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A1B32-03EC-4C67-92F2-55F258BD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1714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A6EBD-8EEE-493D-915E-5C1F5B3A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86150"/>
            <a:ext cx="14097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2383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acc[2]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C25B49-EA2E-40B4-99D7-6BED681E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100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2994A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+= 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ij</a:t>
            </a:r>
            <a:r>
              <a:rPr sz="1050" i="0">
                <a:latin typeface="Cambria Math"/>
                <a:ea typeface="Cambria Math"/>
                <a:cs typeface="Cambria Math"/>
              </a:rPr>
              <a:t> × 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j2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C133CA-2C8D-474B-A4FC-55316405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1714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4763">
            <a:solidFill>
              <a:srgbClr val="B7C7D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7D80D0-74C9-4E36-978A-E4C5B7C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86150"/>
            <a:ext cx="14097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t>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9F446E-613A-4E76-B85B-5314DBFA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9900"/>
            <a:ext cx="1714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6B041E-FCDA-4ACF-BF6D-9924CB78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86150"/>
            <a:ext cx="14097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2383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acc[k−1]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746A7C-0DFE-452C-BABB-F9ED9FB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100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8E63CE"/>
                </a:solidFill>
                <a:latin typeface="Cambria Math"/>
                <a:ea typeface="Cambria Math"/>
                <a:cs typeface="Cambria Math"/>
              </a:defRPr>
            </a:pPr>
            <a:r>
              <a:rPr sz="1050" i="0">
                <a:latin typeface="Cambria Math"/>
                <a:ea typeface="Cambria Math"/>
                <a:cs typeface="Cambria Math"/>
              </a:rPr>
              <a:t>+= A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ij</a:t>
            </a:r>
            <a:r>
              <a:rPr sz="1050" i="0">
                <a:latin typeface="Cambria Math"/>
                <a:ea typeface="Cambria Math"/>
                <a:cs typeface="Cambria Math"/>
              </a:rPr>
              <a:t> × X</a:t>
            </a:r>
            <a:r>
              <a:rPr sz="756" i="0" baseline="-25000">
                <a:latin typeface="Cambria Math"/>
                <a:ea typeface="Cambria Math"/>
                <a:cs typeface="Cambria Math"/>
              </a:rPr>
              <a:t>j,k−1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669FF2-D969-4D20-94A9-50F59979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86275"/>
            <a:ext cx="76200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3335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t>non un accumulatore, ma k accumulatori per lane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3490BB-28BE-46FA-A2CA-9C35B513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57B8"/>
                </a:solidFill>
                <a:latin typeface="Aptos"/>
                <a:ea typeface="Aptos"/>
                <a:cs typeface="Aptos"/>
              </a:defRPr>
            </a:pPr>
            <a:r>
              <a:t>32 lane × k somme parziali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734084-38EC-4B0E-AD0C-D1CBC468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62550"/>
            <a:ext cx="1104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57B8"/>
          </a:solidFill>
          <a:ln xmlns:a="http://schemas.openxmlformats.org/drawingml/2006/main" w="4763">
            <a:solidFill>
              <a:srgbClr val="1257B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055B26-8449-4A29-9B4B-008E14F0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48250"/>
            <a:ext cx="285750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257B8"/>
          </a:solidFill>
          <a:ln xmlns:a="http://schemas.openxmlformats.org/drawingml/2006/main" w="9525">
            <a:solidFill>
              <a:srgbClr val="1257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riduzione warp per ogni 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B8AFEF-3470-4A7B-AF51-99F49B4D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62550"/>
            <a:ext cx="1104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38F3A6-6FBE-491E-82EF-E4920654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48250"/>
            <a:ext cx="247650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350" i="0">
                <a:latin typeface="Cambria Math"/>
                <a:ea typeface="Cambria Math"/>
                <a:cs typeface="Cambria Math"/>
              </a:rPr>
              <a:t>lane 0 scrive Y</a:t>
            </a:r>
            <a:r>
              <a:rPr sz="972" i="0" baseline="-25000">
                <a:latin typeface="Cambria Math"/>
                <a:ea typeface="Cambria Math"/>
                <a:cs typeface="Cambria Math"/>
              </a:rPr>
              <a:t>i0</a:t>
            </a:r>
            <a:r>
              <a:rPr sz="1350" i="0">
                <a:latin typeface="Cambria Math"/>
                <a:ea typeface="Cambria Math"/>
                <a:cs typeface="Cambria Math"/>
              </a:rPr>
              <a:t> … Y</a:t>
            </a:r>
            <a:r>
              <a:rPr sz="972" i="0" baseline="-25000">
                <a:latin typeface="Cambria Math"/>
                <a:ea typeface="Cambria Math"/>
                <a:cs typeface="Cambria Math"/>
              </a:rPr>
              <a:t>i,k−1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236E2A-3F52-4A73-BCA5-75F1C29E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75" i="0">
                <a:latin typeface="Aptos"/>
                <a:ea typeface="Aptos"/>
                <a:cs typeface="Aptos"/>
              </a:rPr>
              <a:t>Il riuso di A</a:t>
            </a:r>
            <a:r>
              <a:rPr sz="1134" i="0" baseline="-25000">
                <a:latin typeface="Aptos"/>
                <a:ea typeface="Aptos"/>
                <a:cs typeface="Aptos"/>
              </a:rPr>
              <a:t>ij</a:t>
            </a:r>
            <a:r>
              <a:rPr sz="1575" i="0">
                <a:latin typeface="Aptos"/>
                <a:ea typeface="Aptos"/>
                <a:cs typeface="Aptos"/>
              </a:rPr>
              <a:t> è possibile perché ciascuna lane mantiene contemporaneamente k accumulatori</a:t>
            </a:r>
          </a:p>
        </p:txBody>
      </p:sp>
    </p:spTree>
    <p:extLst>
      <p:ext uri="{BB962C8B-B14F-4D97-AF65-F5344CB8AC3E}">
        <p14:creationId xmlns:p14="http://schemas.microsoft.com/office/powerpoint/2010/main" val="79121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5CF2CED-4803-4225-9AF7-808ABEF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t>Accessi delle lane a X: row-major e column-major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785D6-78E2-45CD-92FA-9BAE18D4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A9EBB-C62A-4938-B4C5-44CCF676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6E0F1-4EF4-4473-838F-DD3DCA55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D4CFA-8C0D-407A-A3C0-0D42392A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42950"/>
            <a:ext cx="523875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2383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X row-major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8F780-0F85-43B7-8DEE-AFFC54B2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42950"/>
            <a:ext cx="523875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X column-major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F892B-F036-4FEC-A18A-B762C3CA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matrice logica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E6AC6-FA77-4F88-94BD-DA268A63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j,0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FF09A-D322-4B99-BF1C-2DAF84AA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j,1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F7D83-F58E-4D9D-8E79-767C52AE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240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j,2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67620-1DFE-4CFD-8158-5331D433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240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j,c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0470F-6EC3-4075-9DFA-6E24BFD2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j+1,0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E6610-094B-4249-B8F6-4A239409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j+1,1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41ECA-D6C4-4E2F-8AE3-55A03735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240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j+1,2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72E68-34DB-42B4-8DF1-C9BA30A8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240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j+1,c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63CAB-F4E6-49AD-94D8-FACFBB77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j+2,0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8FAA9-6FD7-48C1-A0C4-7FD7B360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j+2,1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65DCE-E035-4B56-B204-1F705A5F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241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j+2,2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09757-07EC-4086-9717-B948A900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j+2,c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1DA47-225E-4690-A1C6-5766F4B4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j+3,0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7CA58-3D1E-4FA8-ABB8-8F988D40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j+3,1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D8009-34FD-424B-8A52-950A6B04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j+3,2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3CE26-6677-4555-AD80-6AC26F63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j+3,c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88413-CD24-4464-8161-ABFFDB09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j+4,0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E2D3C-88FE-4CDA-9D72-E5FAE443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j+4,1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92864-5655-46E9-9F58-9767414F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242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j+4,2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A98E0-2D0E-4B9E-86B9-D078FC9C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242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j+4,c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FEF17C-40CB-4B09-B201-90DDB5C7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71625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57B8"/>
          </a:solidFill>
          <a:ln xmlns:a="http://schemas.openxmlformats.org/drawingml/2006/main" w="9525">
            <a:solidFill>
              <a:srgbClr val="1257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443E51-C358-4581-A8D9-3CCFD857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47825"/>
            <a:ext cx="2667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4EB66-0CEB-40A1-96D5-AC81C2C7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71675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0C7023-75EC-455A-B82F-C960BCC0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47875"/>
            <a:ext cx="2667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238BD4-C005-44E5-A759-4094DA78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71725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379F7-49BA-4E3C-B6DC-2ED41BDE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47925"/>
            <a:ext cx="2667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EA0580-FE82-40C1-82FB-3BE48FEA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71775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DA57B7-EAE7-48A7-ABF9-0BC6265B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47975"/>
            <a:ext cx="2667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FE6903-5D71-4A9D-B1EB-D1140485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71825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05359B-AEFB-497B-80AF-B3F11781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48025"/>
            <a:ext cx="2667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B16CCA-18CF-4278-8A59-DAB2358E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001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matrice logica 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CF95A4-6FBE-4513-BCAD-1127AB93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240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j,0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C7A0A0-1085-4E5F-9223-4067ED48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j,1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C035C-D298-441A-A30F-39335307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j,2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452EE0-31B3-423B-A96A-0A84DAC8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240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j,c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FC90D0-F71E-4CF5-AE1D-A4BA158B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240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j+1,0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F81519-4A08-4103-8C1B-6A76C4B9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j+1,1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317089-2739-467C-8544-16613193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j+1,2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13BF26-228E-4D8E-8B05-82E4F2F7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240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j+1,c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F6DE3E-F676-4500-B9AF-485C355D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j+2,0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D2BED4-732C-4AD8-A931-BBA493C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j+2,1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672272-3CFE-4B0A-9E0C-1CE7B381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j+2,2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E73C17-DEFF-4B53-840C-F1872795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j+2,c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C9A894-8A36-49CC-AD7F-A1DCE783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j+3,0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5A30CF-FEDB-4276-905A-16915D3E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j+3,1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DEE3BC-2F44-4E1D-A697-7A939449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j+3,2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770F2B-F09B-49C2-8DEF-D4486BB5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j+3,c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E8C69C-45DA-4B53-B2D5-BA439EEA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242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j+4,0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0AB38B-C267-4083-A6A2-C0093D1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j+4,1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285D8F-1CCA-4D46-B536-668C2F28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j+4,2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DA0205-5CB8-4F50-B4AF-C058B808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242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00" i="0">
                <a:latin typeface="Cambria Math"/>
                <a:ea typeface="Cambria Math"/>
                <a:cs typeface="Cambria Math"/>
              </a:rPr>
              <a:t>X</a:t>
            </a:r>
            <a:r>
              <a:rPr sz="648" i="0" baseline="-25000">
                <a:latin typeface="Cambria Math"/>
                <a:ea typeface="Cambria Math"/>
                <a:cs typeface="Cambria Math"/>
              </a:rPr>
              <a:t>j+4,c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DF6254-8A41-4A03-82FD-2C32A7D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71625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257B8"/>
          </a:solidFill>
          <a:ln xmlns:a="http://schemas.openxmlformats.org/drawingml/2006/main" w="9525">
            <a:solidFill>
              <a:srgbClr val="1257B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AE40DE-E2FC-40F9-A89D-5B8E5314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647825"/>
            <a:ext cx="2667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C97E14-A469-4BB5-A242-10B37C0F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71675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0439CA-1BC4-4BF4-B76C-E7B5F3F8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047875"/>
            <a:ext cx="2667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133ABD-89D2-4263-96A3-7EBE391D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71725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58BD56-8695-44CF-ACA7-87170EF5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47925"/>
            <a:ext cx="2667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3D0E83A-6E4B-4D8A-B5BD-172CFF3C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39847B-138D-457D-BE35-B2C13E34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847975"/>
            <a:ext cx="2667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400480-2AAE-43FB-ADF6-B834D1E1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lane 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ED2B8D-0745-4CD1-9368-FDBA84FE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48025"/>
            <a:ext cx="2667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207ACC-307E-435A-88F6-4ECA46E3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t>stessa colonna, righe successive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886CC9-B96D-4E1E-AE25-6E63DB20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99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t>la colonna c diventa un segmento contiguo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FD06FE7-00B1-402A-B110-A3A5C994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1002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ordine fisico in memoria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1FCC22-4DBD-445B-87EE-785F6DA8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002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ordine fisico in memoria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000D58-93A1-4BD0-B0CC-939981F5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5B1E0F6-5169-4CA4-9F12-FFF0DB9D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1F2093A-AF28-4E42-A7C7-245518B0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5019364-3523-4A2C-882C-EBA7373A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6E1CE3E-9BEB-450A-B025-B37436F3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095FC1B-D1D7-42BB-98FE-F7010203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E4074D-EC85-44AC-83CB-4DB687D2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5040F1F-E92C-4A52-B341-B97646BA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617C3FB-9663-4EC0-B618-E3A3AF21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96794FB-EE50-4DF1-9F02-B497A4F2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1F3EEB-BDFB-4FAA-9833-1311EDF6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8E862E-DE97-44BD-A621-2EC14609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5B40F7-AD41-4375-963E-35A8F165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27EDC3-A8EE-43F3-B840-66A347E7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371F34-8D3B-4AB4-88F9-A80866AE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A3049B4-EBCD-4567-9027-D42F6EE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7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7BB9397-976C-481B-A12A-B7B55EE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8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98D0989-8755-435B-89AE-12218C57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8D042E2-B949-4F52-BDD2-82F6C7F9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9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1E3A5AC-61F7-41FF-9EC6-020C3BEC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9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7EDD97F-CD59-4BFA-9BB6-9D257AE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D3D0711-9849-4A57-A587-266C736E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A9B1A64-EF5D-4CE6-A129-810A6D73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436733C-D102-42C1-BE0D-A1A08FAC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15168E-CAB5-40C2-8019-D7233B66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B3B9D76-3BBF-4B9B-9B1A-C695AA4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D9235C4-B98C-4D6D-B78D-7BF26EBE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13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D695B8C-E298-4E80-B751-0D753D1B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13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85EBDF9-A977-4433-AEC7-56158A11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913D37D-EEA7-4A93-96D2-7DEBB3D0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14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6CFBDF5-5883-4741-B0A0-E11E8333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7C5744F-8A0E-4DFF-B9D1-B77727B8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91025"/>
            <a:ext cx="295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t>15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8ECDA52-E1BB-45C2-B872-804D7D1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EB5757"/>
                </a:solidFill>
                <a:latin typeface="Cambria Math"/>
                <a:ea typeface="Cambria Math"/>
                <a:cs typeface="Cambria Math"/>
              </a:defRPr>
            </a:pPr>
            <a:r>
              <a:rPr sz="750" i="0">
                <a:latin typeface="Cambria Math"/>
                <a:ea typeface="Cambria Math"/>
                <a:cs typeface="Cambria Math"/>
              </a:rPr>
              <a:t>X</a:t>
            </a:r>
            <a:r>
              <a:rPr sz="540" i="0" baseline="-25000">
                <a:latin typeface="Cambria Math"/>
                <a:ea typeface="Cambria Math"/>
                <a:cs typeface="Cambria Math"/>
              </a:rPr>
              <a:t>j,c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5CE1517-D4BA-484D-BD36-50866DD6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196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EB5757"/>
                </a:solidFill>
                <a:latin typeface="Cambria Math"/>
                <a:ea typeface="Cambria Math"/>
                <a:cs typeface="Cambria Math"/>
              </a:defRPr>
            </a:pPr>
            <a:r>
              <a:rPr sz="750" i="0">
                <a:latin typeface="Cambria Math"/>
                <a:ea typeface="Cambria Math"/>
                <a:cs typeface="Cambria Math"/>
              </a:rPr>
              <a:t>X</a:t>
            </a:r>
            <a:r>
              <a:rPr sz="540" i="0" baseline="-25000">
                <a:latin typeface="Cambria Math"/>
                <a:ea typeface="Cambria Math"/>
                <a:cs typeface="Cambria Math"/>
              </a:rPr>
              <a:t>j+1,c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77D5537-E203-469A-BAEF-3D484D71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EB5757"/>
                </a:solidFill>
                <a:latin typeface="Cambria Math"/>
                <a:ea typeface="Cambria Math"/>
                <a:cs typeface="Cambria Math"/>
              </a:defRPr>
            </a:pPr>
            <a:r>
              <a:rPr sz="750" i="0">
                <a:latin typeface="Cambria Math"/>
                <a:ea typeface="Cambria Math"/>
                <a:cs typeface="Cambria Math"/>
              </a:rPr>
              <a:t>X</a:t>
            </a:r>
            <a:r>
              <a:rPr sz="540" i="0" baseline="-25000">
                <a:latin typeface="Cambria Math"/>
                <a:ea typeface="Cambria Math"/>
                <a:cs typeface="Cambria Math"/>
              </a:rPr>
              <a:t>j+2,c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7B7D198-DD8E-4D22-89FA-59F8968C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196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EB5757"/>
                </a:solidFill>
                <a:latin typeface="Cambria Math"/>
                <a:ea typeface="Cambria Math"/>
                <a:cs typeface="Cambria Math"/>
              </a:defRPr>
            </a:pPr>
            <a:r>
              <a:rPr sz="750" i="0">
                <a:latin typeface="Cambria Math"/>
                <a:ea typeface="Cambria Math"/>
                <a:cs typeface="Cambria Math"/>
              </a:rPr>
              <a:t>X</a:t>
            </a:r>
            <a:r>
              <a:rPr sz="540" i="0" baseline="-25000">
                <a:latin typeface="Cambria Math"/>
                <a:ea typeface="Cambria Math"/>
                <a:cs typeface="Cambria Math"/>
              </a:rPr>
              <a:t>j+3,c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48815DB-D3C7-45F0-A672-16C54C85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27AE60"/>
                </a:solidFill>
                <a:latin typeface="Cambria Math"/>
                <a:ea typeface="Cambria Math"/>
                <a:cs typeface="Cambria Math"/>
              </a:defRPr>
            </a:pPr>
            <a:r>
              <a:rPr sz="750" i="0">
                <a:latin typeface="Cambria Math"/>
                <a:ea typeface="Cambria Math"/>
                <a:cs typeface="Cambria Math"/>
              </a:rPr>
              <a:t>X</a:t>
            </a:r>
            <a:r>
              <a:rPr sz="540" i="0" baseline="-25000">
                <a:latin typeface="Cambria Math"/>
                <a:ea typeface="Cambria Math"/>
                <a:cs typeface="Cambria Math"/>
              </a:rPr>
              <a:t>j,c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D637C03-767E-4EE4-A34B-C024C0F8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196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27AE60"/>
                </a:solidFill>
                <a:latin typeface="Cambria Math"/>
                <a:ea typeface="Cambria Math"/>
                <a:cs typeface="Cambria Math"/>
              </a:defRPr>
            </a:pPr>
            <a:r>
              <a:rPr sz="750" i="0">
                <a:latin typeface="Cambria Math"/>
                <a:ea typeface="Cambria Math"/>
                <a:cs typeface="Cambria Math"/>
              </a:rPr>
              <a:t>X</a:t>
            </a:r>
            <a:r>
              <a:rPr sz="540" i="0" baseline="-25000">
                <a:latin typeface="Cambria Math"/>
                <a:ea typeface="Cambria Math"/>
                <a:cs typeface="Cambria Math"/>
              </a:rPr>
              <a:t>j+1,c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1DFD08F-4CCE-454B-AC68-8C4DEA43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96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27AE60"/>
                </a:solidFill>
                <a:latin typeface="Cambria Math"/>
                <a:ea typeface="Cambria Math"/>
                <a:cs typeface="Cambria Math"/>
              </a:defRPr>
            </a:pPr>
            <a:r>
              <a:rPr sz="750" i="0">
                <a:latin typeface="Cambria Math"/>
                <a:ea typeface="Cambria Math"/>
                <a:cs typeface="Cambria Math"/>
              </a:rPr>
              <a:t>X</a:t>
            </a:r>
            <a:r>
              <a:rPr sz="540" i="0" baseline="-25000">
                <a:latin typeface="Cambria Math"/>
                <a:ea typeface="Cambria Math"/>
                <a:cs typeface="Cambria Math"/>
              </a:rPr>
              <a:t>j+2,c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6987FBE-ADD2-45DE-B301-3A8923E7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8196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27AE60"/>
                </a:solidFill>
                <a:latin typeface="Cambria Math"/>
                <a:ea typeface="Cambria Math"/>
                <a:cs typeface="Cambria Math"/>
              </a:defRPr>
            </a:pPr>
            <a:r>
              <a:rPr sz="750" i="0">
                <a:latin typeface="Cambria Math"/>
                <a:ea typeface="Cambria Math"/>
                <a:cs typeface="Cambria Math"/>
              </a:rPr>
              <a:t>X</a:t>
            </a:r>
            <a:r>
              <a:rPr sz="540" i="0" baseline="-25000">
                <a:latin typeface="Cambria Math"/>
                <a:ea typeface="Cambria Math"/>
                <a:cs typeface="Cambria Math"/>
              </a:rPr>
              <a:t>j+3,c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B5D511E-F95B-4100-A1AF-3DE3F62C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96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27AE60"/>
                </a:solidFill>
                <a:latin typeface="Cambria Math"/>
                <a:ea typeface="Cambria Math"/>
                <a:cs typeface="Cambria Math"/>
              </a:defRPr>
            </a:pPr>
            <a:r>
              <a:rPr sz="750" i="0">
                <a:latin typeface="Cambria Math"/>
                <a:ea typeface="Cambria Math"/>
                <a:cs typeface="Cambria Math"/>
              </a:rPr>
              <a:t>X</a:t>
            </a:r>
            <a:r>
              <a:rPr sz="540" i="0" baseline="-25000">
                <a:latin typeface="Cambria Math"/>
                <a:ea typeface="Cambria Math"/>
                <a:cs typeface="Cambria Math"/>
              </a:rPr>
              <a:t>j+4,c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01E8712-A978-4F40-B536-415D68C5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91125"/>
            <a:ext cx="390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t>salto di ldx = k elementi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BCBAF34-4E88-46ED-80CB-8FE0A8E0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191125"/>
            <a:ext cx="3857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t>indirizzi consecutivi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3728285-2CFC-4513-B7B7-DD35A8A5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34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B5757"/>
                </a:solidFill>
                <a:latin typeface="Cambria Math"/>
                <a:ea typeface="Cambria Math"/>
                <a:cs typeface="Cambria Math"/>
              </a:defRPr>
            </a:pPr>
            <a:r>
              <a:rPr sz="1350" i="0">
                <a:latin typeface="Cambria Math"/>
                <a:ea typeface="Cambria Math"/>
                <a:cs typeface="Cambria Math"/>
              </a:rPr>
              <a:t>X</a:t>
            </a:r>
            <a:r>
              <a:rPr sz="972" i="0" baseline="-25000">
                <a:latin typeface="Cambria Math"/>
                <a:ea typeface="Cambria Math"/>
                <a:cs typeface="Cambria Math"/>
              </a:rPr>
              <a:t>loc</a:t>
            </a:r>
            <a:r>
              <a:rPr sz="1350" i="0">
                <a:latin typeface="Cambria Math"/>
                <a:ea typeface="Cambria Math"/>
                <a:cs typeface="Cambria Math"/>
              </a:rPr>
              <a:t>[j · ldx + c]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D2700EC-5865-4D84-B1ED-A79C79C4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7AE60"/>
                </a:solidFill>
                <a:latin typeface="Cambria Math"/>
                <a:ea typeface="Cambria Math"/>
                <a:cs typeface="Cambria Math"/>
              </a:defRPr>
            </a:pPr>
            <a:r>
              <a:rPr sz="1350" i="0">
                <a:latin typeface="Cambria Math"/>
                <a:ea typeface="Cambria Math"/>
                <a:cs typeface="Cambria Math"/>
              </a:rPr>
              <a:t>X</a:t>
            </a:r>
            <a:r>
              <a:rPr sz="972" i="0" baseline="-25000">
                <a:latin typeface="Cambria Math"/>
                <a:ea typeface="Cambria Math"/>
                <a:cs typeface="Cambria Math"/>
              </a:rPr>
              <a:t>loc</a:t>
            </a:r>
            <a:r>
              <a:rPr sz="1350" i="0">
                <a:latin typeface="Cambria Math"/>
                <a:ea typeface="Cambria Math"/>
                <a:cs typeface="Cambria Math"/>
              </a:rPr>
              <a:t>[c · n</a:t>
            </a:r>
            <a:r>
              <a:rPr sz="972" i="0" baseline="-25000">
                <a:latin typeface="Cambria Math"/>
                <a:ea typeface="Cambria Math"/>
                <a:cs typeface="Cambria Math"/>
              </a:rPr>
              <a:t>loc</a:t>
            </a:r>
            <a:r>
              <a:rPr sz="1350" i="0">
                <a:latin typeface="Cambria Math"/>
                <a:ea typeface="Cambria Math"/>
                <a:cs typeface="Cambria Math"/>
              </a:rPr>
              <a:t> + j]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1EDBB2C-AB97-44FD-B9A5-DD238D28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t>Con c fissato, il layout column-major trasforma gli accessi verticali logici in letture contigue nel buffer</a:t>
            </a:r>
          </a:p>
        </p:txBody>
      </p:sp>
    </p:spTree>
    <p:extLst>
      <p:ext uri="{BB962C8B-B14F-4D97-AF65-F5344CB8AC3E}">
        <p14:creationId xmlns:p14="http://schemas.microsoft.com/office/powerpoint/2010/main" val="1530554835"/>
      </p:ext>
    </p:extLst>
  </p:cSld>
</p:sld>
</file>

<file path=ppt/theme/theme1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2026-09-16T00:32:27.0850000Z</dcterms:created>
  <dcterms:modified xsi:type="dcterms:W3CDTF">2026-09-16T00:32:27.0850000Z</dcterms:modified>
</coreProperties>
</file>