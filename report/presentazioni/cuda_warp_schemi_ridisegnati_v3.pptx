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3538c48b2c4c12" /><Relationship Type="http://schemas.openxmlformats.org/officeDocument/2006/relationships/extended-properties" Target="/docProps/app.xml" Id="R9b30dece24cc4cf1" /><Relationship Type="http://schemas.openxmlformats.org/officeDocument/2006/relationships/officeDocument" Target="/ppt/presentation.xml" Id="R0a4dcbeb02244f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5269accc904f00"/>
  </p:sldMasterIdLst>
  <p:notesMasterIdLst>
    <p:notesMasterId xmlns:r="http://schemas.openxmlformats.org/officeDocument/2006/relationships" r:id="Rc6e4e99697884b8b"/>
  </p:notesMasterIdLst>
  <p:sldIdLst>
    <p:sldId xmlns:r="http://schemas.openxmlformats.org/officeDocument/2006/relationships" id="256" r:id="Rcbe81914ee0c4512"/>
    <p:sldId xmlns:r="http://schemas.openxmlformats.org/officeDocument/2006/relationships" id="257" r:id="R020be8fd1eca43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74424443614b03" /><Relationship Type="http://schemas.openxmlformats.org/officeDocument/2006/relationships/slideMaster" Target="/ppt/slideMasters/slideMaster1.xml" Id="R975269accc904f00" /><Relationship Type="http://schemas.openxmlformats.org/officeDocument/2006/relationships/notesMaster" Target="/ppt/notesMasters/notesMaster1.xml" Id="Rc6e4e99697884b8b" /><Relationship Type="http://schemas.openxmlformats.org/officeDocument/2006/relationships/presProps" Target="/ppt/presProps.xml" Id="R24078305927245f8" /><Relationship Type="http://schemas.openxmlformats.org/officeDocument/2006/relationships/tableStyles" Target="/ppt/tableStyles.xml" Id="R42dd32c64ccc492b" /><Relationship Type="http://schemas.openxmlformats.org/officeDocument/2006/relationships/slide" Target="/ppt/slides/slide1.xml" Id="Rcbe81914ee0c4512" /><Relationship Type="http://schemas.openxmlformats.org/officeDocument/2006/relationships/slide" Target="/ppt/slides/slide2.xml" Id="R020be8fd1eca43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d9a7309efc42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UDA report">
      <a:dk1>
        <a:srgbClr val="000000"/>
      </a:dk1>
      <a:lt1>
        <a:srgbClr val="FFFFFF"/>
      </a:lt1>
      <a:dk2>
        <a:srgbClr val="17365D"/>
      </a:dk2>
      <a:lt2>
        <a:srgbClr val="F5F8FC"/>
      </a:lt2>
      <a:accent1>
        <a:srgbClr val="2F80ED"/>
      </a:accent1>
      <a:accent2>
        <a:srgbClr val="249B62"/>
      </a:accent2>
      <a:accent3>
        <a:srgbClr val="E58A2B"/>
      </a:accent3>
      <a:accent4>
        <a:srgbClr val="A445B8"/>
      </a:accent4>
      <a:accent5>
        <a:srgbClr val="D9A400"/>
      </a:accent5>
      <a:accent6>
        <a:srgbClr val="1659B7"/>
      </a:accent6>
      <a:hlink>
        <a:srgbClr val="2F80ED"/>
      </a:hlink>
      <a:folHlink>
        <a:srgbClr val="A445B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UDA repor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8101ca28e943c6" /><Relationship Type="http://schemas.openxmlformats.org/officeDocument/2006/relationships/notesMaster" Target="/ppt/notesMasters/notesMaster1.xml" Id="R4fc62273284d41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ff94a6e41e4070" /><Relationship Type="http://schemas.openxmlformats.org/officeDocument/2006/relationships/notesMaster" Target="/ppt/notesMasters/notesMaster1.xml" Id="R06ecf0b2d5d44e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Schema ricostruito dagli appunti forniti. Il kernel usa j=lane, lane+32, ...; per ogni j, il ciclo interno su c aggiorna k accumulatori privati della lane.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Schema ricostruito dagli appunti forniti. La lane l visita j=l,l+32,...; nel secondo blocco lane 0 usa A_(0,32) con la riga 32 di X, mentre lane 1 usa A_(0,33) con la riga 33 di 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829a3fcdd945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844aa4ba314686" /><Relationship Type="http://schemas.openxmlformats.org/officeDocument/2006/relationships/slideLayout" Target="/ppt/slideLayouts/slideLayout1.xml" Id="Rd6982f3ecf204e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982f3ecf204e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UDA report">
      <a:dk1>
        <a:srgbClr val="000000"/>
      </a:dk1>
      <a:lt1>
        <a:srgbClr val="FFFFFF"/>
      </a:lt1>
      <a:dk2>
        <a:srgbClr val="17365D"/>
      </a:dk2>
      <a:lt2>
        <a:srgbClr val="F5F8FC"/>
      </a:lt2>
      <a:accent1>
        <a:srgbClr val="2F80ED"/>
      </a:accent1>
      <a:accent2>
        <a:srgbClr val="249B62"/>
      </a:accent2>
      <a:accent3>
        <a:srgbClr val="E58A2B"/>
      </a:accent3>
      <a:accent4>
        <a:srgbClr val="A445B8"/>
      </a:accent4>
      <a:accent5>
        <a:srgbClr val="D9A400"/>
      </a:accent5>
      <a:accent6>
        <a:srgbClr val="1659B7"/>
      </a:accent6>
      <a:hlink>
        <a:srgbClr val="2F80ED"/>
      </a:hlink>
      <a:folHlink>
        <a:srgbClr val="A445B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UDA repor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9f29665804637" /><Relationship Type="http://schemas.openxmlformats.org/officeDocument/2006/relationships/notesSlide" Target="/ppt/notesSlides/notesSlide1.xml" Id="Rc578b96f061443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10df8ef1c4827" /><Relationship Type="http://schemas.openxmlformats.org/officeDocument/2006/relationships/notesSlide" Target="/ppt/notesSlides/notesSlide2.xml" Id="R2c51675f768c44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148B814-EC05-4706-A6B0-E6860E75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"/>
            <a:ext cx="1154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7365D"/>
                </a:solidFill>
                <a:latin typeface="Aptos Display"/>
                <a:ea typeface="Aptos Display"/>
                <a:cs typeface="Aptos Display"/>
              </a:defRPr>
            </a:pPr>
            <a:r>
              <a:t>Ciclo interno su c: una lane aggiorna tutti gli accumulatori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C84B5-D577-4267-B166-C4FA3A48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52450"/>
            <a:ext cx="1154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9D5"/>
          </a:solidFill>
          <a:ln xmlns:a="http://schemas.openxmlformats.org/drawingml/2006/main" w="0">
            <a:solidFill>
              <a:srgbClr val="83A9D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9288B-9882-41B0-8415-C164BA92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09600"/>
            <a:ext cx="1152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Esempio sulla riga i = 0, prima iterazione del ciclo su 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2F01B-61A9-47D1-9B6F-F59710EC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33450"/>
            <a:ext cx="5353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061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59B7"/>
                </a:solidFill>
                <a:latin typeface="Aptos"/>
                <a:ea typeface="Aptos"/>
                <a:cs typeface="Aptos"/>
              </a:defRPr>
            </a:pPr>
            <a:r>
              <a:t>1  Il warp distribuisce la riga di A tra le lane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7745E-9B4E-48F6-BC0A-6E71ED88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6381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20003">
            <a:solidFill>
              <a:srgbClr val="1659B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0,0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235BE-64C1-4DBA-BE25-801BFFAF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371600"/>
            <a:ext cx="6381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FB"/>
          </a:solidFill>
          <a:ln xmlns:a="http://schemas.openxmlformats.org/drawingml/2006/main" w="20003">
            <a:solidFill>
              <a:srgbClr val="A445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0,1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1DBE4-8DCD-4641-87DA-8F0E1430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71600"/>
            <a:ext cx="6381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0,2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DDB77-0EBF-47FB-A880-03AB2FAC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371600"/>
            <a:ext cx="6381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D19F0-99A0-45A5-B260-DE479B7F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371600"/>
            <a:ext cx="6381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0,30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6EA25-EEA4-4D8C-AF1C-EC47C40A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371600"/>
            <a:ext cx="6381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0,31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0F5A2-F783-4BF8-B243-94C24C78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71600"/>
            <a:ext cx="6381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7B3AC-DCED-40B6-AB3E-5AE369E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371600"/>
            <a:ext cx="6381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0,n</a:t>
            </a:r>
            <a:r>
              <a:rPr sz="583" i="0" baseline="-50000">
                <a:latin typeface="Cambria Math"/>
                <a:ea typeface="Cambria Math"/>
                <a:cs typeface="Cambria Math"/>
              </a:rPr>
              <a:t>loc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−1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38B97-2120-41CC-861C-5AD9199B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95475"/>
            <a:ext cx="8953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3335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659B7"/>
                </a:solidFill>
                <a:latin typeface="Aptos"/>
                <a:ea typeface="Aptos"/>
                <a:cs typeface="Aptos"/>
              </a:defRPr>
            </a:pPr>
            <a:r>
              <a:t>lane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4918B-D155-42A9-94B9-2AECB290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09800"/>
            <a:ext cx="8953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EAFB"/>
          </a:solidFill>
          <a:ln xmlns:a="http://schemas.openxmlformats.org/drawingml/2006/main" w="13335">
            <a:solidFill>
              <a:srgbClr val="7C2D8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7C2D8E"/>
                </a:solidFill>
                <a:latin typeface="Aptos"/>
                <a:ea typeface="Aptos"/>
                <a:cs typeface="Aptos"/>
              </a:defRPr>
            </a:pPr>
            <a:r>
              <a:t>lane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ED516-6EF9-43DF-8C7C-87BD1E54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0225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59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D900D-18FF-4D4E-939C-D5E8ADCD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800225"/>
            <a:ext cx="0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445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EE8D58-00A2-47BF-8316-001B372B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240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le altre 30 lane leggono gli elementi restanti del blocco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FA66BF-B14A-4A22-B604-1758A247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933450"/>
            <a:ext cx="48958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49B62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061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49B62"/>
                </a:solidFill>
                <a:latin typeface="Aptos"/>
                <a:ea typeface="Aptos"/>
                <a:cs typeface="Aptos"/>
              </a:defRPr>
            </a:pPr>
            <a:r>
              <a:t>2  X è attraversata lungo 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5BDA5-5D7F-4BA4-8436-791A00FA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1620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E59C29-47BA-48FC-A9CA-BC7EDCB9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162050"/>
            <a:ext cx="885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005E21-FA4E-478F-B507-AF62647D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62050"/>
            <a:ext cx="885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3A9883-B762-45BD-B6D2-FF06A11C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162050"/>
            <a:ext cx="885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DC785-C76A-4728-9426-061EA8FF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162050"/>
            <a:ext cx="885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k−1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7BA184-BBA0-411E-BE84-437FFF47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382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77467D-EC65-4643-A492-1C6B97A1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3827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1659B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A4FCD4-86DD-4A89-86D5-861E3BD3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3827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1659B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807745-30F2-4B9E-BEC6-FBA8EB39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3827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1659B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459ACE-69BA-45D2-BDAE-3C9BFAAE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43827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1659B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0,k−1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5E2152-BAEF-4ACF-A4B0-23CF0E29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002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A445B8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6F1909-F4AA-4182-B0E6-F075C39C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0022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FB"/>
          </a:solidFill>
          <a:ln xmlns:a="http://schemas.openxmlformats.org/drawingml/2006/main" w="17145">
            <a:solidFill>
              <a:srgbClr val="A445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1,0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A04715-5091-4925-812F-9CCC859E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022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FB"/>
          </a:solidFill>
          <a:ln xmlns:a="http://schemas.openxmlformats.org/drawingml/2006/main" w="17145">
            <a:solidFill>
              <a:srgbClr val="A445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1,1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536E1F-980F-4519-AC57-2B9FB123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0022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FB"/>
          </a:solidFill>
          <a:ln xmlns:a="http://schemas.openxmlformats.org/drawingml/2006/main" w="17145">
            <a:solidFill>
              <a:srgbClr val="A445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F6C8E4-B879-4F80-83B1-FC1CD233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80022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FB"/>
          </a:solidFill>
          <a:ln xmlns:a="http://schemas.openxmlformats.org/drawingml/2006/main" w="17145">
            <a:solidFill>
              <a:srgbClr val="A445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1,k−1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07D78D-C1BE-4AE0-9E7E-26B6C3A0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621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t>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5FAE0A-0F73-4A47-990C-B3670AAE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6217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47B9AC-A53A-474A-A793-0BC2984D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6217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14E423-3BD1-4F2C-86A1-486FDBB0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6217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EC9A76-2092-4CCA-A273-DD0C210B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16217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4264FB-F99D-4120-8856-9B2D932D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241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t>31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49C4AD-84A8-4093-BB84-7436CCBF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2412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31,0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E69160-96DA-4A7A-A7B5-A23E262F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2412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31,1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4B30BE-E9B6-4D7F-A2CE-3E5A7001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2412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3A58BA-85AF-4C84-A2D9-C45614DE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524125"/>
            <a:ext cx="885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31,k−1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3F8CAA-D2C0-4BCA-AFC1-FD3158A7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2095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B62"/>
          </a:solidFill>
          <a:ln xmlns:a="http://schemas.openxmlformats.org/drawingml/2006/main" w="4763">
            <a:solidFill>
              <a:srgbClr val="249B62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619086-E4FF-4C02-A1B7-E2A0AA8C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95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49B62"/>
                </a:solidFill>
                <a:latin typeface="Aptos"/>
                <a:ea typeface="Aptos"/>
                <a:cs typeface="Aptos"/>
              </a:defRPr>
            </a:pPr>
            <a:r>
              <a:t>c = 0, 1, …, k−1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2C2B4A-31A9-4EEC-9163-CFA5C0C7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743200"/>
            <a:ext cx="5457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t>Ogni lane conserva il proprio elemento di 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E9AD75-6543-4B49-A7DA-4A3F8F4C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8953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3335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659B7"/>
                </a:solidFill>
                <a:latin typeface="Aptos"/>
                <a:ea typeface="Aptos"/>
                <a:cs typeface="Aptos"/>
              </a:defRPr>
            </a:pPr>
            <a:r>
              <a:t>lane 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A4ABFA-0A5B-4ABB-B246-2B2EEFC4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09925"/>
            <a:ext cx="1666875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5240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650" i="0">
                <a:latin typeface="Cambria Math"/>
                <a:ea typeface="Cambria Math"/>
                <a:cs typeface="Cambria Math"/>
              </a:rPr>
              <a:t>a</a:t>
            </a:r>
            <a:r>
              <a:rPr sz="1188" i="0" baseline="-25000">
                <a:latin typeface="Cambria Math"/>
                <a:ea typeface="Cambria Math"/>
                <a:cs typeface="Cambria Math"/>
              </a:rPr>
              <a:t>0</a:t>
            </a:r>
            <a:r>
              <a:rPr sz="1650" i="0">
                <a:latin typeface="Cambria Math"/>
                <a:ea typeface="Cambria Math"/>
                <a:cs typeface="Cambria Math"/>
              </a:rPr>
              <a:t> = A</a:t>
            </a:r>
            <a:r>
              <a:rPr sz="1188" i="0" baseline="-25000">
                <a:latin typeface="Cambria Math"/>
                <a:ea typeface="Cambria Math"/>
                <a:cs typeface="Cambria Math"/>
              </a:rPr>
              <a:t>0,0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120354-57C5-4E7D-A7CA-423D3936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429000"/>
            <a:ext cx="4381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59B7"/>
          </a:solidFill>
          <a:ln xmlns:a="http://schemas.openxmlformats.org/drawingml/2006/main" w="4763">
            <a:solidFill>
              <a:srgbClr val="1659B7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FBCD37-3DF8-414B-8EC3-76D13D57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09925"/>
            <a:ext cx="10668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275" i="0">
                <a:latin typeface="Cambria Math"/>
                <a:ea typeface="Cambria Math"/>
                <a:cs typeface="Cambria Math"/>
              </a:rPr>
              <a:t>acc</a:t>
            </a:r>
            <a:r>
              <a:rPr sz="918" i="0" baseline="-25000">
                <a:latin typeface="Cambria Math"/>
                <a:ea typeface="Cambria Math"/>
                <a:cs typeface="Cambria Math"/>
              </a:rPr>
              <a:t>0</a:t>
            </a:r>
            <a:r>
              <a:rPr sz="1275" i="0">
                <a:latin typeface="Cambria Math"/>
                <a:ea typeface="Cambria Math"/>
                <a:cs typeface="Cambria Math"/>
              </a:rPr>
              <a:t>[0]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F7F3BBE-3D8F-419C-8723-CA9BF7B3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24250"/>
            <a:ext cx="1066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+= 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</a:t>
            </a:r>
            <a:r>
              <a:rPr sz="1125" i="0">
                <a:latin typeface="Cambria Math"/>
                <a:ea typeface="Cambria Math"/>
                <a:cs typeface="Cambria Math"/>
              </a:rPr>
              <a:t> 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0,0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265909-5995-4F05-8157-24F7A115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09925"/>
            <a:ext cx="10668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275" i="0">
                <a:latin typeface="Cambria Math"/>
                <a:ea typeface="Cambria Math"/>
                <a:cs typeface="Cambria Math"/>
              </a:rPr>
              <a:t>acc</a:t>
            </a:r>
            <a:r>
              <a:rPr sz="918" i="0" baseline="-25000">
                <a:latin typeface="Cambria Math"/>
                <a:ea typeface="Cambria Math"/>
                <a:cs typeface="Cambria Math"/>
              </a:rPr>
              <a:t>0</a:t>
            </a:r>
            <a:r>
              <a:rPr sz="1275" i="0">
                <a:latin typeface="Cambria Math"/>
                <a:ea typeface="Cambria Math"/>
                <a:cs typeface="Cambria Math"/>
              </a:rPr>
              <a:t>[1]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4297C47-7935-428D-BB6E-72E32AB3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24250"/>
            <a:ext cx="1066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+= 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</a:t>
            </a:r>
            <a:r>
              <a:rPr sz="1125" i="0">
                <a:latin typeface="Cambria Math"/>
                <a:ea typeface="Cambria Math"/>
                <a:cs typeface="Cambria Math"/>
              </a:rPr>
              <a:t> 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0,1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DEB461-AE14-4EE9-9B03-04A53153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9925"/>
            <a:ext cx="10668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275" i="0">
                <a:latin typeface="Cambria Math"/>
                <a:ea typeface="Cambria Math"/>
                <a:cs typeface="Cambria Math"/>
              </a:rPr>
              <a:t>acc</a:t>
            </a:r>
            <a:r>
              <a:rPr sz="918" i="0" baseline="-25000">
                <a:latin typeface="Cambria Math"/>
                <a:ea typeface="Cambria Math"/>
                <a:cs typeface="Cambria Math"/>
              </a:rPr>
              <a:t>0</a:t>
            </a:r>
            <a:r>
              <a:rPr sz="1275" i="0">
                <a:latin typeface="Cambria Math"/>
                <a:ea typeface="Cambria Math"/>
                <a:cs typeface="Cambria Math"/>
              </a:rPr>
              <a:t>[…]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3558D2E-B255-49D2-9873-93041954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1066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2EF6E1-C8B1-47A7-B6B5-FA8EE256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09925"/>
            <a:ext cx="10668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275" i="0">
                <a:latin typeface="Cambria Math"/>
                <a:ea typeface="Cambria Math"/>
                <a:cs typeface="Cambria Math"/>
              </a:rPr>
              <a:t>acc</a:t>
            </a:r>
            <a:r>
              <a:rPr sz="918" i="0" baseline="-25000">
                <a:latin typeface="Cambria Math"/>
                <a:ea typeface="Cambria Math"/>
                <a:cs typeface="Cambria Math"/>
              </a:rPr>
              <a:t>0</a:t>
            </a:r>
            <a:r>
              <a:rPr sz="1275" i="0">
                <a:latin typeface="Cambria Math"/>
                <a:ea typeface="Cambria Math"/>
                <a:cs typeface="Cambria Math"/>
              </a:rPr>
              <a:t>[k−1]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55984A-1988-4909-88EE-4C8677DE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24250"/>
            <a:ext cx="1066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+= 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</a:t>
            </a:r>
            <a:r>
              <a:rPr sz="1125" i="0">
                <a:latin typeface="Cambria Math"/>
                <a:ea typeface="Cambria Math"/>
                <a:cs typeface="Cambria Math"/>
              </a:rPr>
              <a:t> 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0,k−1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24C4E7-CF8C-4D47-B4B1-E67DAAFF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72025"/>
            <a:ext cx="8953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EAFB"/>
          </a:solidFill>
          <a:ln xmlns:a="http://schemas.openxmlformats.org/drawingml/2006/main" w="13335">
            <a:solidFill>
              <a:srgbClr val="7C2D8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7C2D8E"/>
                </a:solidFill>
                <a:latin typeface="Aptos"/>
                <a:ea typeface="Aptos"/>
                <a:cs typeface="Aptos"/>
              </a:defRPr>
            </a:pPr>
            <a:r>
              <a:t>lane 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2B8C7D-8B09-4ADC-B678-15E35978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91050"/>
            <a:ext cx="1666875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7EAFB"/>
          </a:solidFill>
          <a:ln xmlns:a="http://schemas.openxmlformats.org/drawingml/2006/main" w="15240">
            <a:solidFill>
              <a:srgbClr val="7C2D8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650" i="0">
                <a:latin typeface="Cambria Math"/>
                <a:ea typeface="Cambria Math"/>
                <a:cs typeface="Cambria Math"/>
              </a:rPr>
              <a:t>a</a:t>
            </a:r>
            <a:r>
              <a:rPr sz="1188" i="0" baseline="-25000">
                <a:latin typeface="Cambria Math"/>
                <a:ea typeface="Cambria Math"/>
                <a:cs typeface="Cambria Math"/>
              </a:rPr>
              <a:t>1</a:t>
            </a:r>
            <a:r>
              <a:rPr sz="1650" i="0">
                <a:latin typeface="Cambria Math"/>
                <a:ea typeface="Cambria Math"/>
                <a:cs typeface="Cambria Math"/>
              </a:rPr>
              <a:t> = A</a:t>
            </a:r>
            <a:r>
              <a:rPr sz="1188" i="0" baseline="-25000">
                <a:latin typeface="Cambria Math"/>
                <a:ea typeface="Cambria Math"/>
                <a:cs typeface="Cambria Math"/>
              </a:rPr>
              <a:t>0,1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EAE77C-A721-4166-91FE-59D89F6F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810125"/>
            <a:ext cx="4381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C2D8E"/>
          </a:solidFill>
          <a:ln xmlns:a="http://schemas.openxmlformats.org/drawingml/2006/main" w="4763">
            <a:solidFill>
              <a:srgbClr val="7C2D8E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4F37C9E-7F60-4750-B26B-CA32AF71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91050"/>
            <a:ext cx="10668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AFB"/>
          </a:solidFill>
          <a:ln xmlns:a="http://schemas.openxmlformats.org/drawingml/2006/main" w="11430">
            <a:solidFill>
              <a:srgbClr val="7C2D8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275" i="0">
                <a:latin typeface="Cambria Math"/>
                <a:ea typeface="Cambria Math"/>
                <a:cs typeface="Cambria Math"/>
              </a:rPr>
              <a:t>acc</a:t>
            </a:r>
            <a:r>
              <a:rPr sz="918" i="0" baseline="-25000">
                <a:latin typeface="Cambria Math"/>
                <a:ea typeface="Cambria Math"/>
                <a:cs typeface="Cambria Math"/>
              </a:rPr>
              <a:t>1</a:t>
            </a:r>
            <a:r>
              <a:rPr sz="1275" i="0">
                <a:latin typeface="Cambria Math"/>
                <a:ea typeface="Cambria Math"/>
                <a:cs typeface="Cambria Math"/>
              </a:rPr>
              <a:t>[0]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31BAE0-E1AD-4A7A-B594-34B33DF0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905375"/>
            <a:ext cx="1066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+= 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1</a:t>
            </a:r>
            <a:r>
              <a:rPr sz="1125" i="0">
                <a:latin typeface="Cambria Math"/>
                <a:ea typeface="Cambria Math"/>
                <a:cs typeface="Cambria Math"/>
              </a:rPr>
              <a:t> 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1,0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B2C1D92-145C-43ED-99E2-762F6122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91050"/>
            <a:ext cx="10668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AFB"/>
          </a:solidFill>
          <a:ln xmlns:a="http://schemas.openxmlformats.org/drawingml/2006/main" w="11430">
            <a:solidFill>
              <a:srgbClr val="7C2D8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275" i="0">
                <a:latin typeface="Cambria Math"/>
                <a:ea typeface="Cambria Math"/>
                <a:cs typeface="Cambria Math"/>
              </a:rPr>
              <a:t>acc</a:t>
            </a:r>
            <a:r>
              <a:rPr sz="918" i="0" baseline="-25000">
                <a:latin typeface="Cambria Math"/>
                <a:ea typeface="Cambria Math"/>
                <a:cs typeface="Cambria Math"/>
              </a:rPr>
              <a:t>1</a:t>
            </a:r>
            <a:r>
              <a:rPr sz="1275" i="0">
                <a:latin typeface="Cambria Math"/>
                <a:ea typeface="Cambria Math"/>
                <a:cs typeface="Cambria Math"/>
              </a:rPr>
              <a:t>[1]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67DF794-4558-4840-81A4-EE9D0CC3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05375"/>
            <a:ext cx="1066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+= 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1</a:t>
            </a:r>
            <a:r>
              <a:rPr sz="1125" i="0">
                <a:latin typeface="Cambria Math"/>
                <a:ea typeface="Cambria Math"/>
                <a:cs typeface="Cambria Math"/>
              </a:rPr>
              <a:t> 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1,1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30C9B30-3E05-435E-A902-2ED5A4DB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91050"/>
            <a:ext cx="10668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AFB"/>
          </a:solidFill>
          <a:ln xmlns:a="http://schemas.openxmlformats.org/drawingml/2006/main" w="11430">
            <a:solidFill>
              <a:srgbClr val="7C2D8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275" i="0">
                <a:latin typeface="Cambria Math"/>
                <a:ea typeface="Cambria Math"/>
                <a:cs typeface="Cambria Math"/>
              </a:rPr>
              <a:t>acc</a:t>
            </a:r>
            <a:r>
              <a:rPr sz="918" i="0" baseline="-25000">
                <a:latin typeface="Cambria Math"/>
                <a:ea typeface="Cambria Math"/>
                <a:cs typeface="Cambria Math"/>
              </a:rPr>
              <a:t>1</a:t>
            </a:r>
            <a:r>
              <a:rPr sz="1275" i="0">
                <a:latin typeface="Cambria Math"/>
                <a:ea typeface="Cambria Math"/>
                <a:cs typeface="Cambria Math"/>
              </a:rPr>
              <a:t>[…]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A92145E-B4BA-4192-BB68-613351E1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05375"/>
            <a:ext cx="1066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A417B38-5C30-40BA-AA81-86A2327A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91050"/>
            <a:ext cx="10668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AFB"/>
          </a:solidFill>
          <a:ln xmlns:a="http://schemas.openxmlformats.org/drawingml/2006/main" w="11430">
            <a:solidFill>
              <a:srgbClr val="7C2D8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275" i="0">
                <a:latin typeface="Cambria Math"/>
                <a:ea typeface="Cambria Math"/>
                <a:cs typeface="Cambria Math"/>
              </a:rPr>
              <a:t>acc</a:t>
            </a:r>
            <a:r>
              <a:rPr sz="918" i="0" baseline="-25000">
                <a:latin typeface="Cambria Math"/>
                <a:ea typeface="Cambria Math"/>
                <a:cs typeface="Cambria Math"/>
              </a:rPr>
              <a:t>1</a:t>
            </a:r>
            <a:r>
              <a:rPr sz="1275" i="0">
                <a:latin typeface="Cambria Math"/>
                <a:ea typeface="Cambria Math"/>
                <a:cs typeface="Cambria Math"/>
              </a:rPr>
              <a:t>[k−1]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BE68C9F-584B-4AA2-A373-09AEFFB5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05375"/>
            <a:ext cx="1066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+= a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1</a:t>
            </a:r>
            <a:r>
              <a:rPr sz="1125" i="0">
                <a:latin typeface="Cambria Math"/>
                <a:ea typeface="Cambria Math"/>
                <a:cs typeface="Cambria Math"/>
              </a:rPr>
              <a:t> 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1,k−1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418BE53-556D-4526-BC55-CFDC0DC6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43375"/>
            <a:ext cx="31051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B62"/>
          </a:solidFill>
          <a:ln xmlns:a="http://schemas.openxmlformats.org/drawingml/2006/main" w="4763">
            <a:solidFill>
              <a:srgbClr val="249B62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44560A8-AE00-4708-8A92-717AB83F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2767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9B62"/>
                </a:solidFill>
                <a:latin typeface="Aptos"/>
                <a:ea typeface="Aptos"/>
                <a:cs typeface="Aptos"/>
              </a:defRPr>
            </a:pPr>
            <a:r>
              <a:t>ciclo più interno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32C5598-1F11-48A8-A64F-F4020677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43350"/>
            <a:ext cx="232410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4288">
            <a:solidFill>
              <a:srgbClr val="E58A2B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E58A2B"/>
                </a:solidFill>
                <a:latin typeface="Aptos"/>
                <a:ea typeface="Aptos"/>
                <a:cs typeface="Aptos"/>
              </a:defRPr>
            </a:pPr>
            <a:r>
              <a:t>k accumulatori privati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29BC4EC-690D-40A1-8310-7D461306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95800"/>
            <a:ext cx="2324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uno per ogni colonna di 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C80A67E-E762-496C-A58A-36407172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8D9"/>
          </a:solidFill>
          <a:ln xmlns:a="http://schemas.openxmlformats.org/drawingml/2006/main" w="15240">
            <a:solidFill>
              <a:srgbClr val="D9A40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65D"/>
                </a:solidFill>
                <a:latin typeface="Cambria Math"/>
                <a:ea typeface="Cambria Math"/>
                <a:cs typeface="Cambria Math"/>
              </a:defRPr>
            </a:pPr>
            <a:r>
              <a:rPr sz="1500" i="0">
                <a:latin typeface="Cambria Math"/>
                <a:ea typeface="Cambria Math"/>
                <a:cs typeface="Cambria Math"/>
              </a:rPr>
              <a:t>La lane riusa lo stesso A</a:t>
            </a:r>
            <a:r>
              <a:rPr sz="1080" i="0" baseline="-25000">
                <a:latin typeface="Cambria Math"/>
                <a:ea typeface="Cambria Math"/>
                <a:cs typeface="Cambria Math"/>
              </a:rPr>
              <a:t>0,j</a:t>
            </a:r>
            <a:r>
              <a:rPr sz="1500" i="0">
                <a:latin typeface="Cambria Math"/>
                <a:ea typeface="Cambria Math"/>
                <a:cs typeface="Cambria Math"/>
              </a:rPr>
              <a:t> per aggiornare tutti i k accumulatori prima di cambiare j</a:t>
            </a:r>
          </a:p>
        </p:txBody>
      </p:sp>
    </p:spTree>
    <p:extLst>
      <p:ext uri="{BB962C8B-B14F-4D97-AF65-F5344CB8AC3E}">
        <p14:creationId xmlns:p14="http://schemas.microsoft.com/office/powerpoint/2010/main" val="1487690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045E3CD-BBA8-4EB1-B860-6211D9F0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6200"/>
            <a:ext cx="1154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7365D"/>
                </a:solidFill>
                <a:latin typeface="Aptos Display"/>
                <a:ea typeface="Aptos Display"/>
                <a:cs typeface="Aptos Display"/>
              </a:defRPr>
            </a:pPr>
            <a:r>
              <a:t>Ciclo su j: ogni lane avanza di 32 elementi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08318-7705-4D71-82C1-09AFC952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52450"/>
            <a:ext cx="1154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9D5"/>
          </a:solidFill>
          <a:ln xmlns:a="http://schemas.openxmlformats.org/drawingml/2006/main" w="0">
            <a:solidFill>
              <a:srgbClr val="83A9D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9C096-D89E-4A74-B2DE-51C36176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09600"/>
            <a:ext cx="1152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Gli accumulatori restano gli stessi mentre cambia il blocco della riga di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29381-CF4F-4E45-A18C-D278A74D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14400"/>
            <a:ext cx="6638925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061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59B7"/>
                </a:solidFill>
                <a:latin typeface="Aptos"/>
                <a:ea typeface="Aptos"/>
                <a:cs typeface="Aptos"/>
              </a:defRPr>
            </a:pPr>
            <a:r>
              <a:t>Riga di A: due iterazioni consecutive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95D4E-5897-424E-8B98-27E9D7DD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90650"/>
            <a:ext cx="59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659B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A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1A0F3-D75D-4FB5-9FC4-5071C491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390650"/>
            <a:ext cx="59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445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A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E6FD5-9328-4F98-BE04-1D305172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390650"/>
            <a:ext cx="59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ADA40-81E1-4862-B408-873E6A82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390650"/>
            <a:ext cx="59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A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76890-33DF-468E-ADD5-296A133D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390650"/>
            <a:ext cx="59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A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5D0B5-B788-4FA7-9F81-E066BBD7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90650"/>
            <a:ext cx="59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20955">
            <a:solidFill>
              <a:srgbClr val="1659B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A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0,32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01C63-B3A3-4977-8EE2-12EA8C83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390650"/>
            <a:ext cx="59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FB"/>
          </a:solidFill>
          <a:ln xmlns:a="http://schemas.openxmlformats.org/drawingml/2006/main" w="20955">
            <a:solidFill>
              <a:srgbClr val="A445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A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0,33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8911C-1678-418E-8DAB-6C101EDF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390650"/>
            <a:ext cx="59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10478">
            <a:solidFill>
              <a:srgbClr val="249B62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EEAAF-0328-437A-97C8-BC206A08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390650"/>
            <a:ext cx="59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10478">
            <a:solidFill>
              <a:srgbClr val="249B62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A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0,62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7A920C-E437-432F-A52A-F4C12B6F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390650"/>
            <a:ext cx="59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10478">
            <a:solidFill>
              <a:srgbClr val="249B62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A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0,63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5BD382-E16F-4EAB-A324-6FB0328A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27635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E58A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E75A5C-327C-4043-8277-4B7511C0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primo blocco: j = 0…31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96C785-740F-41A4-B21B-5F8F8937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240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9B62"/>
                </a:solidFill>
                <a:latin typeface="Aptos"/>
                <a:ea typeface="Aptos"/>
                <a:cs typeface="Aptos"/>
              </a:defRPr>
            </a:pPr>
            <a:r>
              <a:t>blocco successivo: j = 32…63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DDE678-7F97-46BA-86E4-1402ADD8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57425"/>
            <a:ext cx="35242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8A2B"/>
          </a:solidFill>
          <a:ln xmlns:a="http://schemas.openxmlformats.org/drawingml/2006/main" w="4763">
            <a:solidFill>
              <a:srgbClr val="E58A2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DD7CB7-D39C-4D95-9B1B-6BEE3264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00300"/>
            <a:ext cx="1885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E58A2B"/>
                </a:solidFill>
                <a:latin typeface="Aptos"/>
                <a:ea typeface="Aptos"/>
                <a:cs typeface="Aptos"/>
              </a:defRPr>
            </a:pPr>
            <a:r>
              <a:t>j ← j + 32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AC033-4DE6-43E1-A0EC-533B2948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14625"/>
            <a:ext cx="8953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3335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659B7"/>
                </a:solidFill>
                <a:latin typeface="Aptos"/>
                <a:ea typeface="Aptos"/>
                <a:cs typeface="Aptos"/>
              </a:defRPr>
            </a:pPr>
            <a:r>
              <a:t>lane 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237949-7EF6-4A1C-B7A6-50633FA6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860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425" i="0">
                <a:latin typeface="Cambria Math"/>
                <a:ea typeface="Cambria Math"/>
                <a:cs typeface="Cambria Math"/>
              </a:rPr>
              <a:t>A</a:t>
            </a:r>
            <a:r>
              <a:rPr sz="1026" i="0" baseline="-25000">
                <a:latin typeface="Cambria Math"/>
                <a:ea typeface="Cambria Math"/>
                <a:cs typeface="Cambria Math"/>
              </a:rPr>
              <a:t>0,0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9D869-3902-4918-82E0-537DFF3C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771775"/>
            <a:ext cx="8382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59B7"/>
          </a:solidFill>
          <a:ln xmlns:a="http://schemas.openxmlformats.org/drawingml/2006/main" w="4763">
            <a:solidFill>
              <a:srgbClr val="1659B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D9A999-B72A-487C-BFB8-F789F1D3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86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425" i="0">
                <a:latin typeface="Cambria Math"/>
                <a:ea typeface="Cambria Math"/>
                <a:cs typeface="Cambria Math"/>
              </a:rPr>
              <a:t>A</a:t>
            </a:r>
            <a:r>
              <a:rPr sz="1026" i="0" baseline="-25000">
                <a:latin typeface="Cambria Math"/>
                <a:ea typeface="Cambria Math"/>
                <a:cs typeface="Cambria Math"/>
              </a:rPr>
              <a:t>0,32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53BCEE-8E7E-43BF-BFBE-F1EF2389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05150"/>
            <a:ext cx="8953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EAFB"/>
          </a:solidFill>
          <a:ln xmlns:a="http://schemas.openxmlformats.org/drawingml/2006/main" w="13335">
            <a:solidFill>
              <a:srgbClr val="7C2D8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7C2D8E"/>
                </a:solidFill>
                <a:latin typeface="Aptos"/>
                <a:ea typeface="Aptos"/>
                <a:cs typeface="Aptos"/>
              </a:defRPr>
            </a:pPr>
            <a:r>
              <a:t>lane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544CFF-CB02-4801-89D5-854FA389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765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425" i="0">
                <a:latin typeface="Cambria Math"/>
                <a:ea typeface="Cambria Math"/>
                <a:cs typeface="Cambria Math"/>
              </a:rPr>
              <a:t>A</a:t>
            </a:r>
            <a:r>
              <a:rPr sz="1026" i="0" baseline="-25000">
                <a:latin typeface="Cambria Math"/>
                <a:ea typeface="Cambria Math"/>
                <a:cs typeface="Cambria Math"/>
              </a:rPr>
              <a:t>0,1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56DA2D-B586-4732-8DF1-CF82EF52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162300"/>
            <a:ext cx="8382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445B8"/>
          </a:solidFill>
          <a:ln xmlns:a="http://schemas.openxmlformats.org/drawingml/2006/main" w="4763">
            <a:solidFill>
              <a:srgbClr val="A445B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89DA18-F10B-4CE8-8BD7-9ED9EB8B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765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425" i="0">
                <a:latin typeface="Cambria Math"/>
                <a:ea typeface="Cambria Math"/>
                <a:cs typeface="Cambria Math"/>
              </a:rPr>
              <a:t>A</a:t>
            </a:r>
            <a:r>
              <a:rPr sz="1026" i="0" baseline="-25000">
                <a:latin typeface="Cambria Math"/>
                <a:ea typeface="Cambria Math"/>
                <a:cs typeface="Cambria Math"/>
              </a:rPr>
              <a:t>0,33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FD69DE-5284-4F6D-973E-6674D283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914400"/>
            <a:ext cx="4181475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49B62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061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49B62"/>
                </a:solidFill>
                <a:latin typeface="Aptos"/>
                <a:ea typeface="Aptos"/>
                <a:cs typeface="Aptos"/>
              </a:defRPr>
            </a:pPr>
            <a:r>
              <a:t>X column-major: righe lette nello stesso passo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92369F-E0B6-4356-90A4-4B9CDFB4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1620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C578E3-6C15-43AC-87F3-9C50C5C1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62050"/>
            <a:ext cx="7596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30BBD5-9B47-467A-A814-1393E58C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669" y="1162050"/>
            <a:ext cx="7596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D42F69-6EF1-4FE7-A5BB-7FF49212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288" y="1162050"/>
            <a:ext cx="7596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71A8A0-4AF2-4392-982B-D66BA75A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906" y="1162050"/>
            <a:ext cx="7596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k−1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C12E76-6F8F-4E4B-AD4C-42413E84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382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FC5DB6-D2CB-4C2D-9C71-C082A45B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4382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216AE1-190A-40ED-AB21-B9661CEF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669" y="14382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18CE94-A60C-441D-8925-1BEB62AE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288" y="14382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2DA9AC-1B0C-4502-9619-EDED47AA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906" y="14382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0,k−1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EDE023-8584-4551-949E-524DCFCE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02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2DDEE8-D89A-449F-A3AC-003700DA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002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1,0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E1E2C8-4736-45C3-A7E4-351BE935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669" y="18002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1,1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AF841A-9660-409B-BE0A-181B4566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288" y="18002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AA7B15-425E-4BF5-9000-D135C1A3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906" y="18002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1,k−1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08EF17-B9F6-4719-95D1-515C0655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621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t>…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823E13-92AC-4E6D-87E5-718984AE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621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2A6C02-414A-4F4D-BC20-6BC1ACD4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669" y="21621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68AF0D-D8D6-4F8E-BEC7-44FB9614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288" y="21621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6D9E30-72A4-432B-A0FF-69739E52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906" y="21621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B214DF-668B-450C-AC55-6AA44480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241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t>31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86907C-7B20-4741-B4CC-0BC161B5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241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31,0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D201DA-EA14-4A13-8886-C5A1E355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669" y="25241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31,1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CC0FA2-E861-439A-B40A-21CF8ACB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288" y="25241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E4547D-2996-4D73-A7D6-8F5B17EB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906" y="25241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31,k−1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E85FE9-8DEF-46A7-99A2-501435EC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860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Aptos"/>
                <a:ea typeface="Aptos"/>
                <a:cs typeface="Aptos"/>
              </a:defRPr>
            </a:pPr>
            <a:r>
              <a:t>32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5DBA624-B469-47FB-87D2-9068B28D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860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1659B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32,0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BBAC11C-553D-4B3E-95CC-927D0DE5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669" y="28860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1659B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32,1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4AAD0A7-0BCE-40D7-8E76-FCA84532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288" y="28860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1659B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A229B27-7066-45F0-9593-7211651C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906" y="28860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1659B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32,k−1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54BECFE-73D3-49DC-B63E-B5B0AFD1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480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A445B8"/>
                </a:solidFill>
                <a:latin typeface="Aptos"/>
                <a:ea typeface="Aptos"/>
                <a:cs typeface="Aptos"/>
              </a:defRPr>
            </a:pPr>
            <a:r>
              <a:t>33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427B01-0F39-410F-B6C5-B85856B4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480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FB"/>
          </a:solidFill>
          <a:ln xmlns:a="http://schemas.openxmlformats.org/drawingml/2006/main" w="17145">
            <a:solidFill>
              <a:srgbClr val="A445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33,0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73A737C-C6B7-45BC-92A9-A1750318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669" y="32480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FB"/>
          </a:solidFill>
          <a:ln xmlns:a="http://schemas.openxmlformats.org/drawingml/2006/main" w="17145">
            <a:solidFill>
              <a:srgbClr val="A445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33,1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6C107CF-EFA8-4B56-B9A0-B1AA122D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288" y="32480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FB"/>
          </a:solidFill>
          <a:ln xmlns:a="http://schemas.openxmlformats.org/drawingml/2006/main" w="17145">
            <a:solidFill>
              <a:srgbClr val="A445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3672EE1-BD19-441B-955F-91ACADD4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906" y="32480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FB"/>
          </a:solidFill>
          <a:ln xmlns:a="http://schemas.openxmlformats.org/drawingml/2006/main" w="17145">
            <a:solidFill>
              <a:srgbClr val="A445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33,k−1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37A9BE7-1883-4CFC-B213-1112CB61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099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t>…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2D08962-686D-493E-8DDB-E8C09711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099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45A8C6B-F6A2-438C-ADE8-C65F26E3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669" y="36099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B942847-4141-4430-8BB4-C15EF082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288" y="36099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1C6E85C-C89F-4191-BA20-FD597DDC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906" y="360997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826EFB4-F652-40F4-8E14-D48CB0FC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719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49B62"/>
                </a:solidFill>
                <a:latin typeface="Aptos"/>
                <a:ea typeface="Aptos"/>
                <a:cs typeface="Aptos"/>
              </a:defRPr>
            </a:pPr>
            <a:r>
              <a:t>63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CB7D87E-116D-4499-8DFC-57BF15EC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719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10478">
            <a:solidFill>
              <a:srgbClr val="249B62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63,0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3F56430-E172-4FC4-A674-D55049BF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669" y="39719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10478">
            <a:solidFill>
              <a:srgbClr val="249B62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63,1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68819BD-C3A9-4491-B470-3E77515A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288" y="39719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10478">
            <a:solidFill>
              <a:srgbClr val="249B62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91F1FDF-222E-4182-8977-3E8D1D37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906" y="3971925"/>
            <a:ext cx="759619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10478">
            <a:solidFill>
              <a:srgbClr val="249B62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64B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63,k−1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A3AC42E-0AEC-4316-89E6-559241BB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672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t>Gli stessi accumulatori ricevono il contributo del blocco successivo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FD94A07-A9A1-4AD2-BA4C-0A058BAC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57650"/>
            <a:ext cx="8953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3335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659B7"/>
                </a:solidFill>
                <a:latin typeface="Aptos"/>
                <a:ea typeface="Aptos"/>
                <a:cs typeface="Aptos"/>
              </a:defRPr>
            </a:pPr>
            <a:r>
              <a:t>lane 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7C9A9E1-7C81-4F55-AEF6-D909EC46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905250"/>
            <a:ext cx="125730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4288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575" i="0">
                <a:latin typeface="Cambria Math"/>
                <a:ea typeface="Cambria Math"/>
                <a:cs typeface="Cambria Math"/>
              </a:rPr>
              <a:t>acc</a:t>
            </a:r>
            <a:r>
              <a:rPr sz="1134" i="0" baseline="-25000">
                <a:latin typeface="Cambria Math"/>
                <a:ea typeface="Cambria Math"/>
                <a:cs typeface="Cambria Math"/>
              </a:rPr>
              <a:t>0</a:t>
            </a:r>
            <a:r>
              <a:rPr sz="1575" i="0">
                <a:latin typeface="Cambria Math"/>
                <a:ea typeface="Cambria Math"/>
                <a:cs typeface="Cambria Math"/>
              </a:rPr>
              <a:t>[c]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5EC4C59-6E58-4C06-AD70-401A40B0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905250"/>
            <a:ext cx="333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4364B"/>
                </a:solidFill>
                <a:latin typeface="Aptos"/>
                <a:ea typeface="Aptos"/>
                <a:cs typeface="Aptos"/>
              </a:defRPr>
            </a:pPr>
            <a:r>
              <a:t>=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AC48154-FAFA-45C1-915E-7C65166B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05250"/>
            <a:ext cx="1552575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rPr sz="1500" i="0">
                <a:latin typeface="Cambria Math"/>
                <a:ea typeface="Cambria Math"/>
                <a:cs typeface="Cambria Math"/>
              </a:rPr>
              <a:t>A</a:t>
            </a:r>
            <a:r>
              <a:rPr sz="1080" i="0" baseline="-25000">
                <a:latin typeface="Cambria Math"/>
                <a:ea typeface="Cambria Math"/>
                <a:cs typeface="Cambria Math"/>
              </a:rPr>
              <a:t>0,0</a:t>
            </a:r>
            <a:r>
              <a:rPr sz="1500" i="0">
                <a:latin typeface="Cambria Math"/>
                <a:ea typeface="Cambria Math"/>
                <a:cs typeface="Cambria Math"/>
              </a:rPr>
              <a:t> X</a:t>
            </a:r>
            <a:r>
              <a:rPr sz="1080" i="0" baseline="-25000">
                <a:latin typeface="Cambria Math"/>
                <a:ea typeface="Cambria Math"/>
                <a:cs typeface="Cambria Math"/>
              </a:rPr>
              <a:t>0,c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0DA6E0B-177E-4EBF-AC66-C07C136D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05250"/>
            <a:ext cx="333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58A2B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7B85B27-FDFF-4B5C-BBFD-415F9825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905250"/>
            <a:ext cx="1685925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4288">
            <a:solidFill>
              <a:srgbClr val="1659B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659B7"/>
                </a:solidFill>
                <a:latin typeface="Cambria Math"/>
                <a:ea typeface="Cambria Math"/>
                <a:cs typeface="Cambria Math"/>
              </a:defRPr>
            </a:pPr>
            <a:r>
              <a:rPr sz="1500" i="0">
                <a:latin typeface="Cambria Math"/>
                <a:ea typeface="Cambria Math"/>
                <a:cs typeface="Cambria Math"/>
              </a:rPr>
              <a:t>A</a:t>
            </a:r>
            <a:r>
              <a:rPr sz="1080" i="0" baseline="-25000">
                <a:latin typeface="Cambria Math"/>
                <a:ea typeface="Cambria Math"/>
                <a:cs typeface="Cambria Math"/>
              </a:rPr>
              <a:t>0,32</a:t>
            </a:r>
            <a:r>
              <a:rPr sz="1500" i="0">
                <a:latin typeface="Cambria Math"/>
                <a:ea typeface="Cambria Math"/>
                <a:cs typeface="Cambria Math"/>
              </a:rPr>
              <a:t> X</a:t>
            </a:r>
            <a:r>
              <a:rPr sz="1080" i="0" baseline="-25000">
                <a:latin typeface="Cambria Math"/>
                <a:ea typeface="Cambria Math"/>
                <a:cs typeface="Cambria Math"/>
              </a:rPr>
              <a:t>32,c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BFAFB3E-B574-4B35-B35C-7078FC4F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10150"/>
            <a:ext cx="8953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EAFB"/>
          </a:solidFill>
          <a:ln xmlns:a="http://schemas.openxmlformats.org/drawingml/2006/main" w="13335">
            <a:solidFill>
              <a:srgbClr val="7C2D8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7C2D8E"/>
                </a:solidFill>
                <a:latin typeface="Aptos"/>
                <a:ea typeface="Aptos"/>
                <a:cs typeface="Aptos"/>
              </a:defRPr>
            </a:pPr>
            <a:r>
              <a:t>lane 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6420F02-DA25-42D8-92F8-7B4233E2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857750"/>
            <a:ext cx="125730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7EAFB"/>
          </a:solidFill>
          <a:ln xmlns:a="http://schemas.openxmlformats.org/drawingml/2006/main" w="14288">
            <a:solidFill>
              <a:srgbClr val="7C2D8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575" i="0">
                <a:latin typeface="Cambria Math"/>
                <a:ea typeface="Cambria Math"/>
                <a:cs typeface="Cambria Math"/>
              </a:rPr>
              <a:t>acc</a:t>
            </a:r>
            <a:r>
              <a:rPr sz="1134" i="0" baseline="-25000">
                <a:latin typeface="Cambria Math"/>
                <a:ea typeface="Cambria Math"/>
                <a:cs typeface="Cambria Math"/>
              </a:rPr>
              <a:t>1</a:t>
            </a:r>
            <a:r>
              <a:rPr sz="1575" i="0">
                <a:latin typeface="Cambria Math"/>
                <a:ea typeface="Cambria Math"/>
                <a:cs typeface="Cambria Math"/>
              </a:rPr>
              <a:t>[c]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454A654-DAE5-4D65-A7FD-1F23B4FA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857750"/>
            <a:ext cx="333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4364B"/>
                </a:solidFill>
                <a:latin typeface="Aptos"/>
                <a:ea typeface="Aptos"/>
                <a:cs typeface="Aptos"/>
              </a:defRPr>
            </a:pPr>
            <a:r>
              <a:t>=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DD4DEF8-C7B6-4702-83A8-087D543F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57750"/>
            <a:ext cx="1552575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0478">
            <a:solidFill>
              <a:srgbClr val="B8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4748B"/>
                </a:solidFill>
                <a:latin typeface="Cambria Math"/>
                <a:ea typeface="Cambria Math"/>
                <a:cs typeface="Cambria Math"/>
              </a:defRPr>
            </a:pPr>
            <a:r>
              <a:rPr sz="1500" i="0">
                <a:latin typeface="Cambria Math"/>
                <a:ea typeface="Cambria Math"/>
                <a:cs typeface="Cambria Math"/>
              </a:rPr>
              <a:t>A</a:t>
            </a:r>
            <a:r>
              <a:rPr sz="1080" i="0" baseline="-25000">
                <a:latin typeface="Cambria Math"/>
                <a:ea typeface="Cambria Math"/>
                <a:cs typeface="Cambria Math"/>
              </a:rPr>
              <a:t>0,1</a:t>
            </a:r>
            <a:r>
              <a:rPr sz="1500" i="0">
                <a:latin typeface="Cambria Math"/>
                <a:ea typeface="Cambria Math"/>
                <a:cs typeface="Cambria Math"/>
              </a:rPr>
              <a:t> X</a:t>
            </a:r>
            <a:r>
              <a:rPr sz="1080" i="0" baseline="-25000">
                <a:latin typeface="Cambria Math"/>
                <a:ea typeface="Cambria Math"/>
                <a:cs typeface="Cambria Math"/>
              </a:rPr>
              <a:t>1,c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FD95EB1-B3AE-4A75-8D21-007C9AA0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57750"/>
            <a:ext cx="333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58A2B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BAE8A0F-6C60-44D9-A1D8-FBB00B2C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57750"/>
            <a:ext cx="1685925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EAFB"/>
          </a:solidFill>
          <a:ln xmlns:a="http://schemas.openxmlformats.org/drawingml/2006/main" w="14288">
            <a:solidFill>
              <a:srgbClr val="7C2D8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7C2D8E"/>
                </a:solidFill>
                <a:latin typeface="Cambria Math"/>
                <a:ea typeface="Cambria Math"/>
                <a:cs typeface="Cambria Math"/>
              </a:defRPr>
            </a:pPr>
            <a:r>
              <a:rPr sz="1500" i="0">
                <a:latin typeface="Cambria Math"/>
                <a:ea typeface="Cambria Math"/>
                <a:cs typeface="Cambria Math"/>
              </a:rPr>
              <a:t>A</a:t>
            </a:r>
            <a:r>
              <a:rPr sz="1080" i="0" baseline="-25000">
                <a:latin typeface="Cambria Math"/>
                <a:ea typeface="Cambria Math"/>
                <a:cs typeface="Cambria Math"/>
              </a:rPr>
              <a:t>0,33</a:t>
            </a:r>
            <a:r>
              <a:rPr sz="1500" i="0">
                <a:latin typeface="Cambria Math"/>
                <a:ea typeface="Cambria Math"/>
                <a:cs typeface="Cambria Math"/>
              </a:rPr>
              <a:t> X</a:t>
            </a:r>
            <a:r>
              <a:rPr sz="1080" i="0" baseline="-25000">
                <a:latin typeface="Cambria Math"/>
                <a:ea typeface="Cambria Math"/>
                <a:cs typeface="Cambria Math"/>
              </a:rPr>
              <a:t>33,c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FAF5E70-A9FC-4A24-85DE-2AB5A667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505450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49B62"/>
                </a:solidFill>
                <a:latin typeface="Aptos"/>
                <a:ea typeface="Aptos"/>
                <a:cs typeface="Aptos"/>
              </a:defRPr>
            </a:pPr>
            <a:r>
              <a:t>c = 0, 1, …, k−1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B68569E-5D9C-43AF-B991-F15F584E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838825"/>
            <a:ext cx="44672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B62"/>
          </a:solidFill>
          <a:ln xmlns:a="http://schemas.openxmlformats.org/drawingml/2006/main" w="4763">
            <a:solidFill>
              <a:srgbClr val="249B62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3643A46-6428-4EF4-A515-C632DD5F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781675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9B62"/>
                </a:solidFill>
                <a:latin typeface="Aptos"/>
                <a:ea typeface="Aptos"/>
                <a:cs typeface="Aptos"/>
              </a:defRPr>
            </a:pPr>
            <a:r>
              <a:t>il ciclo su c si ripete per ogni nuovo j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87FBF2F-7136-4183-958B-44FF63EF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86300"/>
            <a:ext cx="3057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t>Percorso generale della lane ℓ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C833FD2-3236-426F-9340-C556C413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048250"/>
            <a:ext cx="3048000" cy="542925"/>
          </a:xfrm>
          <a:prstGeom xmlns:a="http://schemas.openxmlformats.org/drawingml/2006/main" prst="roundRect">
            <a:avLst>
              <a:gd name="adj" fmla="val 12281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4288">
            <a:solidFill>
              <a:srgbClr val="E58A2B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E58A2B"/>
                </a:solidFill>
                <a:latin typeface="Aptos"/>
                <a:ea typeface="Aptos"/>
                <a:cs typeface="Aptos"/>
              </a:defRPr>
            </a:pPr>
            <a:r>
              <a:t>j = ℓ, ℓ + 32, ℓ + 64, …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B5EA16F-D4B8-499C-BFF3-1AB694FB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29275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ogni passo riusa gli stessi k accumulatori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9E9BF9E-349D-46D6-89E2-C09CD051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8D9"/>
          </a:solidFill>
          <a:ln xmlns:a="http://schemas.openxmlformats.org/drawingml/2006/main" w="15240">
            <a:solidFill>
              <a:srgbClr val="D9A40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t>Dopo j ← j + 32 la lane cambia coppia A–X, ma conserva e aggiorna gli stessi k accumulatori</a:t>
            </a:r>
          </a:p>
        </p:txBody>
      </p:sp>
    </p:spTree>
    <p:extLst>
      <p:ext uri="{BB962C8B-B14F-4D97-AF65-F5344CB8AC3E}">
        <p14:creationId xmlns:p14="http://schemas.microsoft.com/office/powerpoint/2010/main" val="1792563431"/>
      </p:ext>
    </p:extLst>
  </p:cSld>
</p:sld>
</file>

<file path=ppt/theme/theme1.xml><?xml version="1.0" encoding="utf-8"?>
<a:theme xmlns:a="http://schemas.openxmlformats.org/drawingml/2006/main" name="ChatGPT">
  <a:themeElements>
    <a:clrScheme name="CUDA report">
      <a:dk1>
        <a:srgbClr val="000000"/>
      </a:dk1>
      <a:lt1>
        <a:srgbClr val="FFFFFF"/>
      </a:lt1>
      <a:dk2>
        <a:srgbClr val="17365D"/>
      </a:dk2>
      <a:lt2>
        <a:srgbClr val="F5F8FC"/>
      </a:lt2>
      <a:accent1>
        <a:srgbClr val="2F80ED"/>
      </a:accent1>
      <a:accent2>
        <a:srgbClr val="249B62"/>
      </a:accent2>
      <a:accent3>
        <a:srgbClr val="E58A2B"/>
      </a:accent3>
      <a:accent4>
        <a:srgbClr val="A445B8"/>
      </a:accent4>
      <a:accent5>
        <a:srgbClr val="D9A400"/>
      </a:accent5>
      <a:accent6>
        <a:srgbClr val="1659B7"/>
      </a:accent6>
      <a:hlink>
        <a:srgbClr val="2F80ED"/>
      </a:hlink>
      <a:folHlink>
        <a:srgbClr val="A445B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UDA repor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2026-09-16T15:18:51.1700000Z</dcterms:created>
  <dcterms:modified xsi:type="dcterms:W3CDTF">2026-09-16T15:18:51.1710000Z</dcterms:modified>
</coreProperties>
</file>