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c5bafa3747459b" /><Relationship Type="http://schemas.openxmlformats.org/officeDocument/2006/relationships/extended-properties" Target="/docProps/app.xml" Id="Rc1839283676c441c" /><Relationship Type="http://schemas.openxmlformats.org/officeDocument/2006/relationships/officeDocument" Target="/ppt/presentation.xml" Id="R0da6211e3a6e45b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c5fcfe948ab45a0"/>
  </p:sldMasterIdLst>
  <p:notesMasterIdLst>
    <p:notesMasterId xmlns:r="http://schemas.openxmlformats.org/officeDocument/2006/relationships" r:id="R7fba4cec81234d81"/>
  </p:notesMasterIdLst>
  <p:sldIdLst>
    <p:sldId xmlns:r="http://schemas.openxmlformats.org/officeDocument/2006/relationships" id="256" r:id="Ra2f3638fda1844a8"/>
    <p:sldId xmlns:r="http://schemas.openxmlformats.org/officeDocument/2006/relationships" id="257" r:id="Rd93e14e603a1484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b23efbd0f0a41c3" /><Relationship Type="http://schemas.openxmlformats.org/officeDocument/2006/relationships/slideMaster" Target="/ppt/slideMasters/slideMaster1.xml" Id="Rfc5fcfe948ab45a0" /><Relationship Type="http://schemas.openxmlformats.org/officeDocument/2006/relationships/notesMaster" Target="/ppt/notesMasters/notesMaster1.xml" Id="R7fba4cec81234d81" /><Relationship Type="http://schemas.openxmlformats.org/officeDocument/2006/relationships/presProps" Target="/ppt/presProps.xml" Id="Raed560d120c64adf" /><Relationship Type="http://schemas.openxmlformats.org/officeDocument/2006/relationships/tableStyles" Target="/ppt/tableStyles.xml" Id="Rc61be6c950634bd0" /><Relationship Type="http://schemas.openxmlformats.org/officeDocument/2006/relationships/slide" Target="/ppt/slides/slide1.xml" Id="Ra2f3638fda1844a8" /><Relationship Type="http://schemas.openxmlformats.org/officeDocument/2006/relationships/slide" Target="/ppt/slides/slide2.xml" Id="Rd93e14e603a148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af362e49f7e42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UDA report">
      <a:dk1>
        <a:srgbClr val="000000"/>
      </a:dk1>
      <a:lt1>
        <a:srgbClr val="FFFFFF"/>
      </a:lt1>
      <a:dk2>
        <a:srgbClr val="17365D"/>
      </a:dk2>
      <a:lt2>
        <a:srgbClr val="F5F8FC"/>
      </a:lt2>
      <a:accent1>
        <a:srgbClr val="2F80ED"/>
      </a:accent1>
      <a:accent2>
        <a:srgbClr val="249B62"/>
      </a:accent2>
      <a:accent3>
        <a:srgbClr val="E58A2B"/>
      </a:accent3>
      <a:accent4>
        <a:srgbClr val="A445B8"/>
      </a:accent4>
      <a:accent5>
        <a:srgbClr val="D9A400"/>
      </a:accent5>
      <a:accent6>
        <a:srgbClr val="1659B7"/>
      </a:accent6>
      <a:hlink>
        <a:srgbClr val="2F80ED"/>
      </a:hlink>
      <a:folHlink>
        <a:srgbClr val="A445B8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UDA repor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083ec5dce541f9" /><Relationship Type="http://schemas.openxmlformats.org/officeDocument/2006/relationships/notesMaster" Target="/ppt/notesMasters/notesMaster1.xml" Id="Rbc30e2da4e36471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f5969c9f744442a" /><Relationship Type="http://schemas.openxmlformats.org/officeDocument/2006/relationships/notesMaster" Target="/ppt/notesMasters/notesMaster1.xml" Id="R0958f31c8a6f4e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Schema ricostruito dagli appunti forniti. Il kernel usa j=lane, lane+32, ...; per ogni j, il ciclo interno su c aggiorna k accumulatori privati della lane.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Schema ricostruito dagli appunti forniti. La lane l visita j=l,l+32,...; nel secondo blocco lane 0 usa A_(0,32) con la riga 32 di X, mentre lane 1 usa A_(0,33) con la riga 33 di 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8fae24a3174ad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994388ceec423e" /><Relationship Type="http://schemas.openxmlformats.org/officeDocument/2006/relationships/slideLayout" Target="/ppt/slideLayouts/slideLayout1.xml" Id="R5f85cb51cf0441b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85cb51cf0441b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UDA report">
      <a:dk1>
        <a:srgbClr val="000000"/>
      </a:dk1>
      <a:lt1>
        <a:srgbClr val="FFFFFF"/>
      </a:lt1>
      <a:dk2>
        <a:srgbClr val="17365D"/>
      </a:dk2>
      <a:lt2>
        <a:srgbClr val="F5F8FC"/>
      </a:lt2>
      <a:accent1>
        <a:srgbClr val="2F80ED"/>
      </a:accent1>
      <a:accent2>
        <a:srgbClr val="249B62"/>
      </a:accent2>
      <a:accent3>
        <a:srgbClr val="E58A2B"/>
      </a:accent3>
      <a:accent4>
        <a:srgbClr val="A445B8"/>
      </a:accent4>
      <a:accent5>
        <a:srgbClr val="D9A400"/>
      </a:accent5>
      <a:accent6>
        <a:srgbClr val="1659B7"/>
      </a:accent6>
      <a:hlink>
        <a:srgbClr val="2F80ED"/>
      </a:hlink>
      <a:folHlink>
        <a:srgbClr val="A445B8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UDA repor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53dfdfce1f4471" /><Relationship Type="http://schemas.openxmlformats.org/officeDocument/2006/relationships/notesSlide" Target="/ppt/notesSlides/notesSlide1.xml" Id="R4bbcab322e8e420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985ab8eff440dc" /><Relationship Type="http://schemas.openxmlformats.org/officeDocument/2006/relationships/notesSlide" Target="/ppt/notesSlides/notesSlide2.xml" Id="Ra5d1f673cfb04f7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2A07AF4-B517-404C-B5AF-9F59DFD14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4300"/>
            <a:ext cx="11544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7365D"/>
                </a:solidFill>
                <a:latin typeface="Aptos Display"/>
                <a:ea typeface="Aptos Display"/>
                <a:cs typeface="Aptos Display"/>
              </a:defRPr>
            </a:pPr>
            <a:r>
              <a:t>Ciclo interno su c: una lane aggiorna tutti gli accumulatori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0A7043-A670-4CD2-A361-120AF0FF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52450"/>
            <a:ext cx="1154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A9D5"/>
          </a:solidFill>
          <a:ln xmlns:a="http://schemas.openxmlformats.org/drawingml/2006/main" w="0">
            <a:solidFill>
              <a:srgbClr val="83A9D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D3B015-5ACB-41A3-BEA2-7CEA68CCE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609600"/>
            <a:ext cx="1152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Esempio sulla riga i = 0, prima iterazione del ciclo su j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DCD1C2-1BF6-4AC1-9AAB-84640BAB8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933450"/>
            <a:ext cx="53530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659B7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90614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659B7"/>
                </a:solidFill>
                <a:latin typeface="Aptos"/>
                <a:ea typeface="Aptos"/>
                <a:cs typeface="Aptos"/>
              </a:defRPr>
            </a:pPr>
            <a:r>
              <a:t>1  Il warp distribuisce la riga di A tra le lane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B645B5-6234-4392-B9EB-10FEA5D90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71600"/>
            <a:ext cx="6381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20003">
            <a:solidFill>
              <a:srgbClr val="1659B7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659B7"/>
                </a:solidFill>
                <a:latin typeface="Cambria Math"/>
                <a:ea typeface="Cambria Math"/>
                <a:cs typeface="Cambria Math"/>
              </a:defRPr>
            </a:pPr>
            <a:r>
              <a:rPr sz="1125" i="0">
                <a:latin typeface="Cambria Math"/>
                <a:ea typeface="Cambria Math"/>
                <a:cs typeface="Cambria Math"/>
              </a:rPr>
              <a:t>A</a:t>
            </a:r>
            <a:r>
              <a:rPr sz="810" i="0" baseline="-25000">
                <a:latin typeface="Cambria Math"/>
                <a:ea typeface="Cambria Math"/>
                <a:cs typeface="Cambria Math"/>
              </a:rPr>
              <a:t>0,0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85F639-F84B-4D51-B932-DB157488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371600"/>
            <a:ext cx="6381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AFB"/>
          </a:solidFill>
          <a:ln xmlns:a="http://schemas.openxmlformats.org/drawingml/2006/main" w="20003">
            <a:solidFill>
              <a:srgbClr val="A445B8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7C2D8E"/>
                </a:solidFill>
                <a:latin typeface="Cambria Math"/>
                <a:ea typeface="Cambria Math"/>
                <a:cs typeface="Cambria Math"/>
              </a:defRPr>
            </a:pPr>
            <a:r>
              <a:rPr sz="1125" i="0">
                <a:latin typeface="Cambria Math"/>
                <a:ea typeface="Cambria Math"/>
                <a:cs typeface="Cambria Math"/>
              </a:rPr>
              <a:t>A</a:t>
            </a:r>
            <a:r>
              <a:rPr sz="810" i="0" baseline="-25000">
                <a:latin typeface="Cambria Math"/>
                <a:ea typeface="Cambria Math"/>
                <a:cs typeface="Cambria Math"/>
              </a:rPr>
              <a:t>0,1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C295A7-0F1D-4056-B2D2-EC8DF33C6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371600"/>
            <a:ext cx="6381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8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24364B"/>
                </a:solidFill>
                <a:latin typeface="Cambria Math"/>
                <a:ea typeface="Cambria Math"/>
                <a:cs typeface="Cambria Math"/>
              </a:defRPr>
            </a:pPr>
            <a:r>
              <a:rPr sz="1125" i="0">
                <a:latin typeface="Cambria Math"/>
                <a:ea typeface="Cambria Math"/>
                <a:cs typeface="Cambria Math"/>
              </a:rPr>
              <a:t>A</a:t>
            </a:r>
            <a:r>
              <a:rPr sz="810" i="0" baseline="-25000">
                <a:latin typeface="Cambria Math"/>
                <a:ea typeface="Cambria Math"/>
                <a:cs typeface="Cambria Math"/>
              </a:rPr>
              <a:t>0,2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7E9FCF-A60A-4565-873F-872F47007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1371600"/>
            <a:ext cx="6381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8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24364B"/>
                </a:solidFill>
                <a:latin typeface="Cambria Math"/>
                <a:ea typeface="Cambria Math"/>
                <a:cs typeface="Cambria Math"/>
              </a:defRPr>
            </a:pPr>
            <a:r>
              <a:t>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5BFBFC-BAC7-4E98-BBEE-41480F943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371600"/>
            <a:ext cx="6381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8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24364B"/>
                </a:solidFill>
                <a:latin typeface="Cambria Math"/>
                <a:ea typeface="Cambria Math"/>
                <a:cs typeface="Cambria Math"/>
              </a:defRPr>
            </a:pPr>
            <a:r>
              <a:rPr sz="1125" i="0">
                <a:latin typeface="Cambria Math"/>
                <a:ea typeface="Cambria Math"/>
                <a:cs typeface="Cambria Math"/>
              </a:rPr>
              <a:t>A</a:t>
            </a:r>
            <a:r>
              <a:rPr sz="810" i="0" baseline="-25000">
                <a:latin typeface="Cambria Math"/>
                <a:ea typeface="Cambria Math"/>
                <a:cs typeface="Cambria Math"/>
              </a:rPr>
              <a:t>0,30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5D0CC9-0822-472F-99FC-DD7710FC0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1371600"/>
            <a:ext cx="6381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8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24364B"/>
                </a:solidFill>
                <a:latin typeface="Cambria Math"/>
                <a:ea typeface="Cambria Math"/>
                <a:cs typeface="Cambria Math"/>
              </a:defRPr>
            </a:pPr>
            <a:r>
              <a:rPr sz="1125" i="0">
                <a:latin typeface="Cambria Math"/>
                <a:ea typeface="Cambria Math"/>
                <a:cs typeface="Cambria Math"/>
              </a:rPr>
              <a:t>A</a:t>
            </a:r>
            <a:r>
              <a:rPr sz="810" i="0" baseline="-25000">
                <a:latin typeface="Cambria Math"/>
                <a:ea typeface="Cambria Math"/>
                <a:cs typeface="Cambria Math"/>
              </a:rPr>
              <a:t>0,31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FC5137-069A-4929-B417-087C3258C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371600"/>
            <a:ext cx="6381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8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24364B"/>
                </a:solidFill>
                <a:latin typeface="Cambria Math"/>
                <a:ea typeface="Cambria Math"/>
                <a:cs typeface="Cambria Math"/>
              </a:defRPr>
            </a:pPr>
            <a:r>
              <a:t>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AE504A-1AA4-4C3C-91D5-44218DB67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1371600"/>
            <a:ext cx="6381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8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24364B"/>
                </a:solidFill>
                <a:latin typeface="Cambria Math"/>
                <a:ea typeface="Cambria Math"/>
                <a:cs typeface="Cambria Math"/>
              </a:defRPr>
            </a:pPr>
            <a:r>
              <a:rPr sz="1125" i="0">
                <a:latin typeface="Cambria Math"/>
                <a:ea typeface="Cambria Math"/>
                <a:cs typeface="Cambria Math"/>
              </a:rPr>
              <a:t>A</a:t>
            </a:r>
            <a:r>
              <a:rPr sz="810" i="0" baseline="-25000">
                <a:latin typeface="Cambria Math"/>
                <a:ea typeface="Cambria Math"/>
                <a:cs typeface="Cambria Math"/>
              </a:rPr>
              <a:t>0,n−1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468EE7-164C-4D2C-AD5C-DF9009242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895475"/>
            <a:ext cx="8953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3335">
            <a:solidFill>
              <a:srgbClr val="1659B7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659B7"/>
                </a:solidFill>
                <a:latin typeface="Aptos"/>
                <a:ea typeface="Aptos"/>
                <a:cs typeface="Aptos"/>
              </a:defRPr>
            </a:pPr>
            <a:r>
              <a:t>lane 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A7887E-1C7A-4CC6-9F1E-99B7E2E06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09800"/>
            <a:ext cx="8953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7EAFB"/>
          </a:solidFill>
          <a:ln xmlns:a="http://schemas.openxmlformats.org/drawingml/2006/main" w="13335">
            <a:solidFill>
              <a:srgbClr val="7C2D8E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7C2D8E"/>
                </a:solidFill>
                <a:latin typeface="Aptos"/>
                <a:ea typeface="Aptos"/>
                <a:cs typeface="Aptos"/>
              </a:defRPr>
            </a:pPr>
            <a:r>
              <a:t>lane 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5EE615-5577-4FCD-A77D-512BC23EA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00225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59B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8396F7-063A-4E1C-8F44-4D2AB3A67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1800225"/>
            <a:ext cx="0" cy="409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445B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28C929-B1B3-41B2-82BE-AB9482CF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924050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le altre 30 lane leggono gli elementi restanti del blocco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C740A0-3A65-4EBB-8F46-6595EF62B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933450"/>
            <a:ext cx="48958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49B62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90614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49B62"/>
                </a:solidFill>
                <a:latin typeface="Aptos"/>
                <a:ea typeface="Aptos"/>
                <a:cs typeface="Aptos"/>
              </a:defRPr>
            </a:pPr>
            <a:r>
              <a:t>2  X è attraversata lungo 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C399E4-EED7-4B99-8775-0FBC8269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1620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482B83-835E-4C9E-B792-C779579A1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162050"/>
            <a:ext cx="885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D2112A-8402-4EC4-A5C2-B2E017AE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162050"/>
            <a:ext cx="885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643B89-81A8-4BC9-986B-F652191D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162050"/>
            <a:ext cx="885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…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BC80D1-C950-4F7D-9EC3-8894502C1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1162050"/>
            <a:ext cx="885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k−1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11CC4B-A327-4650-AFC9-C6729237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438275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659B7"/>
                </a:solidFill>
                <a:latin typeface="Aptos"/>
                <a:ea typeface="Aptos"/>
                <a:cs typeface="Aptos"/>
              </a:defRPr>
            </a:pPr>
            <a:r>
              <a:t>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44EAED-CC29-437F-B94C-3233D6375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438275"/>
            <a:ext cx="8858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17145">
            <a:solidFill>
              <a:srgbClr val="1659B7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659B7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X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0,0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4FDA4F-E9C1-46F1-87DE-0D34CEE45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438275"/>
            <a:ext cx="8858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17145">
            <a:solidFill>
              <a:srgbClr val="1659B7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659B7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X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0,1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2CE3A4-01A0-4CBA-AA15-E01B49316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438275"/>
            <a:ext cx="8858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17145">
            <a:solidFill>
              <a:srgbClr val="1659B7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659B7"/>
                </a:solidFill>
                <a:latin typeface="Cambria Math"/>
                <a:ea typeface="Cambria Math"/>
                <a:cs typeface="Cambria Math"/>
              </a:defRPr>
            </a:pPr>
            <a:r>
              <a:t>…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7281D8-74D6-4D87-A169-C9819D77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1438275"/>
            <a:ext cx="8858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17145">
            <a:solidFill>
              <a:srgbClr val="1659B7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659B7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X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0,k−1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C47963-58AD-4B97-B24B-7DBC061FE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800225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A445B8"/>
                </a:solidFill>
                <a:latin typeface="Aptos"/>
                <a:ea typeface="Aptos"/>
                <a:cs typeface="Aptos"/>
              </a:defRPr>
            </a:pPr>
            <a:r>
              <a:t>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B33931-896F-43F6-AFA3-8EFAA754C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800225"/>
            <a:ext cx="8858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AFB"/>
          </a:solidFill>
          <a:ln xmlns:a="http://schemas.openxmlformats.org/drawingml/2006/main" w="17145">
            <a:solidFill>
              <a:srgbClr val="A445B8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7C2D8E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X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1,0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370B4C-7DD6-4F65-918B-E94ACA6D8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0225"/>
            <a:ext cx="8858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AFB"/>
          </a:solidFill>
          <a:ln xmlns:a="http://schemas.openxmlformats.org/drawingml/2006/main" w="17145">
            <a:solidFill>
              <a:srgbClr val="A445B8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7C2D8E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X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1,1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225760F-5868-4024-B48B-FC8539351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800225"/>
            <a:ext cx="8858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AFB"/>
          </a:solidFill>
          <a:ln xmlns:a="http://schemas.openxmlformats.org/drawingml/2006/main" w="17145">
            <a:solidFill>
              <a:srgbClr val="A445B8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7C2D8E"/>
                </a:solidFill>
                <a:latin typeface="Cambria Math"/>
                <a:ea typeface="Cambria Math"/>
                <a:cs typeface="Cambria Math"/>
              </a:defRPr>
            </a:pPr>
            <a:r>
              <a:t>…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DF08259-0E57-47E5-A370-6C57D9902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1800225"/>
            <a:ext cx="8858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AFB"/>
          </a:solidFill>
          <a:ln xmlns:a="http://schemas.openxmlformats.org/drawingml/2006/main" w="17145">
            <a:solidFill>
              <a:srgbClr val="A445B8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7C2D8E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X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1,k−1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79CEC6D-1200-419A-BDBE-60F07992C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162175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B8C7D9"/>
                </a:solidFill>
                <a:latin typeface="Aptos"/>
                <a:ea typeface="Aptos"/>
                <a:cs typeface="Aptos"/>
              </a:defRPr>
            </a:pPr>
            <a:r>
              <a:t>…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B33FFAC-98BC-49A5-8EFC-5C8146F19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162175"/>
            <a:ext cx="8858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8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24364B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X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…,0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A6C4894-EE05-498D-B1E5-A5681F20C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62175"/>
            <a:ext cx="8858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8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24364B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X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…,1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8B33C9C-8137-4392-AA8A-97BA67493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62175"/>
            <a:ext cx="8858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8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24364B"/>
                </a:solidFill>
                <a:latin typeface="Cambria Math"/>
                <a:ea typeface="Cambria Math"/>
                <a:cs typeface="Cambria Math"/>
              </a:defRPr>
            </a:pPr>
            <a:r>
              <a:t>…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E331FB4-E72C-490E-836C-B743721AB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2162175"/>
            <a:ext cx="8858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8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24364B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X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…,k−1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F3A86EA-F76A-4550-A9BC-6E563E406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524125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B8C7D9"/>
                </a:solidFill>
                <a:latin typeface="Aptos"/>
                <a:ea typeface="Aptos"/>
                <a:cs typeface="Aptos"/>
              </a:defRPr>
            </a:pPr>
            <a:r>
              <a:t>31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EA8EFA4-7616-4665-8E4C-745A3371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524125"/>
            <a:ext cx="8858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10478">
            <a:solidFill>
              <a:srgbClr val="B8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24364B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X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31,0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D8C438E-42D8-4D66-83E3-7A5388C1A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524125"/>
            <a:ext cx="8858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10478">
            <a:solidFill>
              <a:srgbClr val="B8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24364B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X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31,1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CD7809F-A269-4646-B989-D001DE157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524125"/>
            <a:ext cx="8858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10478">
            <a:solidFill>
              <a:srgbClr val="B8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24364B"/>
                </a:solidFill>
                <a:latin typeface="Cambria Math"/>
                <a:ea typeface="Cambria Math"/>
                <a:cs typeface="Cambria Math"/>
              </a:defRPr>
            </a:pPr>
            <a:r>
              <a:t>…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D4BBC7D-D19D-415F-A11E-638C03416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2524125"/>
            <a:ext cx="8858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10478">
            <a:solidFill>
              <a:srgbClr val="B8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24364B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X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31,k−1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2A52849-A55B-4C30-9A99-A1DF19AA6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143250"/>
            <a:ext cx="29051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9B62"/>
          </a:solidFill>
          <a:ln xmlns:a="http://schemas.openxmlformats.org/drawingml/2006/main" w="4763">
            <a:solidFill>
              <a:srgbClr val="249B62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C4EFA92-BA3A-441A-AB2D-5D885ADF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2956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49B62"/>
                </a:solidFill>
                <a:latin typeface="Aptos"/>
                <a:ea typeface="Aptos"/>
                <a:cs typeface="Aptos"/>
              </a:defRPr>
            </a:pPr>
            <a:r>
              <a:t>c = 0, 1, …, k−1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C73FEA0-4A56-434D-9445-EA1801A6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2743200"/>
            <a:ext cx="54578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365D"/>
                </a:solidFill>
                <a:latin typeface="Aptos"/>
                <a:ea typeface="Aptos"/>
                <a:cs typeface="Aptos"/>
              </a:defRPr>
            </a:pPr>
            <a:r>
              <a:t>Ogni lane conserva il proprio elemento di A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8C297C3-1308-4BBE-B823-351F885DC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90900"/>
            <a:ext cx="8953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3335">
            <a:solidFill>
              <a:srgbClr val="1659B7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659B7"/>
                </a:solidFill>
                <a:latin typeface="Aptos"/>
                <a:ea typeface="Aptos"/>
                <a:cs typeface="Aptos"/>
              </a:defRPr>
            </a:pPr>
            <a:r>
              <a:t>lane 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00BD10B-D9E6-4816-BB7B-A6EA12567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209925"/>
            <a:ext cx="1666875" cy="62865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5240">
            <a:solidFill>
              <a:srgbClr val="1659B7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659B7"/>
                </a:solidFill>
                <a:latin typeface="Cambria Math"/>
                <a:ea typeface="Cambria Math"/>
                <a:cs typeface="Cambria Math"/>
              </a:defRPr>
            </a:pPr>
            <a:r>
              <a:rPr sz="1650" i="0">
                <a:latin typeface="Cambria Math"/>
                <a:ea typeface="Cambria Math"/>
                <a:cs typeface="Cambria Math"/>
              </a:rPr>
              <a:t>a</a:t>
            </a:r>
            <a:r>
              <a:rPr sz="1188" i="0" baseline="-25000">
                <a:latin typeface="Cambria Math"/>
                <a:ea typeface="Cambria Math"/>
                <a:cs typeface="Cambria Math"/>
              </a:rPr>
              <a:t>0</a:t>
            </a:r>
            <a:r>
              <a:rPr sz="1650" i="0">
                <a:latin typeface="Cambria Math"/>
                <a:ea typeface="Cambria Math"/>
                <a:cs typeface="Cambria Math"/>
              </a:rPr>
              <a:t> = A</a:t>
            </a:r>
            <a:r>
              <a:rPr sz="1188" i="0" baseline="-25000">
                <a:latin typeface="Cambria Math"/>
                <a:ea typeface="Cambria Math"/>
                <a:cs typeface="Cambria Math"/>
              </a:rPr>
              <a:t>0,0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B186127-E653-4E56-ADA0-34B7D5807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429000"/>
            <a:ext cx="43815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59B7"/>
          </a:solidFill>
          <a:ln xmlns:a="http://schemas.openxmlformats.org/drawingml/2006/main" w="4763">
            <a:solidFill>
              <a:srgbClr val="1659B7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F1ECB22-8FE9-4F4E-BD22-9FE93E24C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209925"/>
            <a:ext cx="10668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1430">
            <a:solidFill>
              <a:srgbClr val="1659B7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659B7"/>
                </a:solidFill>
                <a:latin typeface="Cambria Math"/>
                <a:ea typeface="Cambria Math"/>
                <a:cs typeface="Cambria Math"/>
              </a:defRPr>
            </a:pPr>
            <a:r>
              <a:rPr sz="1275" i="0">
                <a:latin typeface="Cambria Math"/>
                <a:ea typeface="Cambria Math"/>
                <a:cs typeface="Cambria Math"/>
              </a:rPr>
              <a:t>acc</a:t>
            </a:r>
            <a:r>
              <a:rPr sz="918" i="0" baseline="-25000">
                <a:latin typeface="Cambria Math"/>
                <a:ea typeface="Cambria Math"/>
                <a:cs typeface="Cambria Math"/>
              </a:rPr>
              <a:t>0</a:t>
            </a:r>
            <a:r>
              <a:rPr sz="1275" i="0">
                <a:latin typeface="Cambria Math"/>
                <a:ea typeface="Cambria Math"/>
                <a:cs typeface="Cambria Math"/>
              </a:rPr>
              <a:t>[0]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530B186-5A4B-4C3E-A558-79144CE50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524250"/>
            <a:ext cx="1066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659B7"/>
                </a:solidFill>
                <a:latin typeface="Cambria Math"/>
                <a:ea typeface="Cambria Math"/>
                <a:cs typeface="Cambria Math"/>
              </a:defRPr>
            </a:pPr>
            <a:r>
              <a:rPr sz="1125" i="0">
                <a:latin typeface="Cambria Math"/>
                <a:ea typeface="Cambria Math"/>
                <a:cs typeface="Cambria Math"/>
              </a:rPr>
              <a:t>+= a</a:t>
            </a:r>
            <a:r>
              <a:rPr sz="810" i="0" baseline="-25000">
                <a:latin typeface="Cambria Math"/>
                <a:ea typeface="Cambria Math"/>
                <a:cs typeface="Cambria Math"/>
              </a:rPr>
              <a:t>0</a:t>
            </a:r>
            <a:r>
              <a:rPr sz="1125" i="0">
                <a:latin typeface="Cambria Math"/>
                <a:ea typeface="Cambria Math"/>
                <a:cs typeface="Cambria Math"/>
              </a:rPr>
              <a:t> X</a:t>
            </a:r>
            <a:r>
              <a:rPr sz="810" i="0" baseline="-25000">
                <a:latin typeface="Cambria Math"/>
                <a:ea typeface="Cambria Math"/>
                <a:cs typeface="Cambria Math"/>
              </a:rPr>
              <a:t>0,0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42ECCF3-3B84-4B9C-A31A-97CB2FECA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209925"/>
            <a:ext cx="10668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1430">
            <a:solidFill>
              <a:srgbClr val="1659B7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659B7"/>
                </a:solidFill>
                <a:latin typeface="Cambria Math"/>
                <a:ea typeface="Cambria Math"/>
                <a:cs typeface="Cambria Math"/>
              </a:defRPr>
            </a:pPr>
            <a:r>
              <a:rPr sz="1275" i="0">
                <a:latin typeface="Cambria Math"/>
                <a:ea typeface="Cambria Math"/>
                <a:cs typeface="Cambria Math"/>
              </a:rPr>
              <a:t>acc</a:t>
            </a:r>
            <a:r>
              <a:rPr sz="918" i="0" baseline="-25000">
                <a:latin typeface="Cambria Math"/>
                <a:ea typeface="Cambria Math"/>
                <a:cs typeface="Cambria Math"/>
              </a:rPr>
              <a:t>0</a:t>
            </a:r>
            <a:r>
              <a:rPr sz="1275" i="0">
                <a:latin typeface="Cambria Math"/>
                <a:ea typeface="Cambria Math"/>
                <a:cs typeface="Cambria Math"/>
              </a:rPr>
              <a:t>[1]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84EB50B-89EB-4976-80C8-C8BAA5745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524250"/>
            <a:ext cx="1066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659B7"/>
                </a:solidFill>
                <a:latin typeface="Cambria Math"/>
                <a:ea typeface="Cambria Math"/>
                <a:cs typeface="Cambria Math"/>
              </a:defRPr>
            </a:pPr>
            <a:r>
              <a:rPr sz="1125" i="0">
                <a:latin typeface="Cambria Math"/>
                <a:ea typeface="Cambria Math"/>
                <a:cs typeface="Cambria Math"/>
              </a:rPr>
              <a:t>+= a</a:t>
            </a:r>
            <a:r>
              <a:rPr sz="810" i="0" baseline="-25000">
                <a:latin typeface="Cambria Math"/>
                <a:ea typeface="Cambria Math"/>
                <a:cs typeface="Cambria Math"/>
              </a:rPr>
              <a:t>0</a:t>
            </a:r>
            <a:r>
              <a:rPr sz="1125" i="0">
                <a:latin typeface="Cambria Math"/>
                <a:ea typeface="Cambria Math"/>
                <a:cs typeface="Cambria Math"/>
              </a:rPr>
              <a:t> X</a:t>
            </a:r>
            <a:r>
              <a:rPr sz="810" i="0" baseline="-25000">
                <a:latin typeface="Cambria Math"/>
                <a:ea typeface="Cambria Math"/>
                <a:cs typeface="Cambria Math"/>
              </a:rPr>
              <a:t>0,1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8C3E447-43F9-4FCB-90DB-0959E036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9925"/>
            <a:ext cx="10668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1430">
            <a:solidFill>
              <a:srgbClr val="1659B7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659B7"/>
                </a:solidFill>
                <a:latin typeface="Cambria Math"/>
                <a:ea typeface="Cambria Math"/>
                <a:cs typeface="Cambria Math"/>
              </a:defRPr>
            </a:pPr>
            <a:r>
              <a:rPr sz="1275" i="0">
                <a:latin typeface="Cambria Math"/>
                <a:ea typeface="Cambria Math"/>
                <a:cs typeface="Cambria Math"/>
              </a:rPr>
              <a:t>acc</a:t>
            </a:r>
            <a:r>
              <a:rPr sz="918" i="0" baseline="-25000">
                <a:latin typeface="Cambria Math"/>
                <a:ea typeface="Cambria Math"/>
                <a:cs typeface="Cambria Math"/>
              </a:rPr>
              <a:t>0</a:t>
            </a:r>
            <a:r>
              <a:rPr sz="1275" i="0">
                <a:latin typeface="Cambria Math"/>
                <a:ea typeface="Cambria Math"/>
                <a:cs typeface="Cambria Math"/>
              </a:rPr>
              <a:t>[…]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CBFDE1A-6C57-45A9-B100-BA94A977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1066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659B7"/>
                </a:solidFill>
                <a:latin typeface="Cambria Math"/>
                <a:ea typeface="Cambria Math"/>
                <a:cs typeface="Cambria Math"/>
              </a:defRPr>
            </a:pPr>
            <a:r>
              <a:t>…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828D423-31EE-4E3E-B555-67EE922C0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209925"/>
            <a:ext cx="10668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1430">
            <a:solidFill>
              <a:srgbClr val="1659B7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659B7"/>
                </a:solidFill>
                <a:latin typeface="Cambria Math"/>
                <a:ea typeface="Cambria Math"/>
                <a:cs typeface="Cambria Math"/>
              </a:defRPr>
            </a:pPr>
            <a:r>
              <a:rPr sz="1275" i="0">
                <a:latin typeface="Cambria Math"/>
                <a:ea typeface="Cambria Math"/>
                <a:cs typeface="Cambria Math"/>
              </a:rPr>
              <a:t>acc</a:t>
            </a:r>
            <a:r>
              <a:rPr sz="918" i="0" baseline="-25000">
                <a:latin typeface="Cambria Math"/>
                <a:ea typeface="Cambria Math"/>
                <a:cs typeface="Cambria Math"/>
              </a:rPr>
              <a:t>0</a:t>
            </a:r>
            <a:r>
              <a:rPr sz="1275" i="0">
                <a:latin typeface="Cambria Math"/>
                <a:ea typeface="Cambria Math"/>
                <a:cs typeface="Cambria Math"/>
              </a:rPr>
              <a:t>[k−1]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2519021-9659-4D47-8228-CB8FE71C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524250"/>
            <a:ext cx="1066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659B7"/>
                </a:solidFill>
                <a:latin typeface="Cambria Math"/>
                <a:ea typeface="Cambria Math"/>
                <a:cs typeface="Cambria Math"/>
              </a:defRPr>
            </a:pPr>
            <a:r>
              <a:rPr sz="1125" i="0">
                <a:latin typeface="Cambria Math"/>
                <a:ea typeface="Cambria Math"/>
                <a:cs typeface="Cambria Math"/>
              </a:rPr>
              <a:t>+= a</a:t>
            </a:r>
            <a:r>
              <a:rPr sz="810" i="0" baseline="-25000">
                <a:latin typeface="Cambria Math"/>
                <a:ea typeface="Cambria Math"/>
                <a:cs typeface="Cambria Math"/>
              </a:rPr>
              <a:t>0</a:t>
            </a:r>
            <a:r>
              <a:rPr sz="1125" i="0">
                <a:latin typeface="Cambria Math"/>
                <a:ea typeface="Cambria Math"/>
                <a:cs typeface="Cambria Math"/>
              </a:rPr>
              <a:t> X</a:t>
            </a:r>
            <a:r>
              <a:rPr sz="810" i="0" baseline="-25000">
                <a:latin typeface="Cambria Math"/>
                <a:ea typeface="Cambria Math"/>
                <a:cs typeface="Cambria Math"/>
              </a:rPr>
              <a:t>0,k−1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CB266B2-C0A5-4106-90C2-6FF33357B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72025"/>
            <a:ext cx="8953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7EAFB"/>
          </a:solidFill>
          <a:ln xmlns:a="http://schemas.openxmlformats.org/drawingml/2006/main" w="13335">
            <a:solidFill>
              <a:srgbClr val="7C2D8E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7C2D8E"/>
                </a:solidFill>
                <a:latin typeface="Aptos"/>
                <a:ea typeface="Aptos"/>
                <a:cs typeface="Aptos"/>
              </a:defRPr>
            </a:pPr>
            <a:r>
              <a:t>lane 1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40EEA33-5B81-4673-AEEB-713881E86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591050"/>
            <a:ext cx="1666875" cy="62865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F7EAFB"/>
          </a:solidFill>
          <a:ln xmlns:a="http://schemas.openxmlformats.org/drawingml/2006/main" w="15240">
            <a:solidFill>
              <a:srgbClr val="7C2D8E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7C2D8E"/>
                </a:solidFill>
                <a:latin typeface="Cambria Math"/>
                <a:ea typeface="Cambria Math"/>
                <a:cs typeface="Cambria Math"/>
              </a:defRPr>
            </a:pPr>
            <a:r>
              <a:rPr sz="1650" i="0">
                <a:latin typeface="Cambria Math"/>
                <a:ea typeface="Cambria Math"/>
                <a:cs typeface="Cambria Math"/>
              </a:rPr>
              <a:t>a</a:t>
            </a:r>
            <a:r>
              <a:rPr sz="1188" i="0" baseline="-25000">
                <a:latin typeface="Cambria Math"/>
                <a:ea typeface="Cambria Math"/>
                <a:cs typeface="Cambria Math"/>
              </a:rPr>
              <a:t>1</a:t>
            </a:r>
            <a:r>
              <a:rPr sz="1650" i="0">
                <a:latin typeface="Cambria Math"/>
                <a:ea typeface="Cambria Math"/>
                <a:cs typeface="Cambria Math"/>
              </a:rPr>
              <a:t> = A</a:t>
            </a:r>
            <a:r>
              <a:rPr sz="1188" i="0" baseline="-25000">
                <a:latin typeface="Cambria Math"/>
                <a:ea typeface="Cambria Math"/>
                <a:cs typeface="Cambria Math"/>
              </a:rPr>
              <a:t>0,1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74BE27E-558E-4F47-8720-299DE3A7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810125"/>
            <a:ext cx="43815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C2D8E"/>
          </a:solidFill>
          <a:ln xmlns:a="http://schemas.openxmlformats.org/drawingml/2006/main" w="4763">
            <a:solidFill>
              <a:srgbClr val="7C2D8E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BF1F4D5-917F-43E3-818F-977CD49F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591050"/>
            <a:ext cx="10668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EAFB"/>
          </a:solidFill>
          <a:ln xmlns:a="http://schemas.openxmlformats.org/drawingml/2006/main" w="11430">
            <a:solidFill>
              <a:srgbClr val="7C2D8E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7C2D8E"/>
                </a:solidFill>
                <a:latin typeface="Cambria Math"/>
                <a:ea typeface="Cambria Math"/>
                <a:cs typeface="Cambria Math"/>
              </a:defRPr>
            </a:pPr>
            <a:r>
              <a:rPr sz="1275" i="0">
                <a:latin typeface="Cambria Math"/>
                <a:ea typeface="Cambria Math"/>
                <a:cs typeface="Cambria Math"/>
              </a:rPr>
              <a:t>acc</a:t>
            </a:r>
            <a:r>
              <a:rPr sz="918" i="0" baseline="-25000">
                <a:latin typeface="Cambria Math"/>
                <a:ea typeface="Cambria Math"/>
                <a:cs typeface="Cambria Math"/>
              </a:rPr>
              <a:t>1</a:t>
            </a:r>
            <a:r>
              <a:rPr sz="1275" i="0">
                <a:latin typeface="Cambria Math"/>
                <a:ea typeface="Cambria Math"/>
                <a:cs typeface="Cambria Math"/>
              </a:rPr>
              <a:t>[0]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CD2F255-C5EB-48CB-87B4-2917C4AE5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905375"/>
            <a:ext cx="1066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C2D8E"/>
                </a:solidFill>
                <a:latin typeface="Cambria Math"/>
                <a:ea typeface="Cambria Math"/>
                <a:cs typeface="Cambria Math"/>
              </a:defRPr>
            </a:pPr>
            <a:r>
              <a:rPr sz="1125" i="0">
                <a:latin typeface="Cambria Math"/>
                <a:ea typeface="Cambria Math"/>
                <a:cs typeface="Cambria Math"/>
              </a:rPr>
              <a:t>+= a</a:t>
            </a:r>
            <a:r>
              <a:rPr sz="810" i="0" baseline="-25000">
                <a:latin typeface="Cambria Math"/>
                <a:ea typeface="Cambria Math"/>
                <a:cs typeface="Cambria Math"/>
              </a:rPr>
              <a:t>1</a:t>
            </a:r>
            <a:r>
              <a:rPr sz="1125" i="0">
                <a:latin typeface="Cambria Math"/>
                <a:ea typeface="Cambria Math"/>
                <a:cs typeface="Cambria Math"/>
              </a:rPr>
              <a:t> X</a:t>
            </a:r>
            <a:r>
              <a:rPr sz="810" i="0" baseline="-25000">
                <a:latin typeface="Cambria Math"/>
                <a:ea typeface="Cambria Math"/>
                <a:cs typeface="Cambria Math"/>
              </a:rPr>
              <a:t>1,0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F4330D9-50E6-4AFA-B616-A1C891916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591050"/>
            <a:ext cx="10668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EAFB"/>
          </a:solidFill>
          <a:ln xmlns:a="http://schemas.openxmlformats.org/drawingml/2006/main" w="11430">
            <a:solidFill>
              <a:srgbClr val="7C2D8E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7C2D8E"/>
                </a:solidFill>
                <a:latin typeface="Cambria Math"/>
                <a:ea typeface="Cambria Math"/>
                <a:cs typeface="Cambria Math"/>
              </a:defRPr>
            </a:pPr>
            <a:r>
              <a:rPr sz="1275" i="0">
                <a:latin typeface="Cambria Math"/>
                <a:ea typeface="Cambria Math"/>
                <a:cs typeface="Cambria Math"/>
              </a:rPr>
              <a:t>acc</a:t>
            </a:r>
            <a:r>
              <a:rPr sz="918" i="0" baseline="-25000">
                <a:latin typeface="Cambria Math"/>
                <a:ea typeface="Cambria Math"/>
                <a:cs typeface="Cambria Math"/>
              </a:rPr>
              <a:t>1</a:t>
            </a:r>
            <a:r>
              <a:rPr sz="1275" i="0">
                <a:latin typeface="Cambria Math"/>
                <a:ea typeface="Cambria Math"/>
                <a:cs typeface="Cambria Math"/>
              </a:rPr>
              <a:t>[1]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17728AA-F238-4378-B36C-D1F484D4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905375"/>
            <a:ext cx="1066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C2D8E"/>
                </a:solidFill>
                <a:latin typeface="Cambria Math"/>
                <a:ea typeface="Cambria Math"/>
                <a:cs typeface="Cambria Math"/>
              </a:defRPr>
            </a:pPr>
            <a:r>
              <a:rPr sz="1125" i="0">
                <a:latin typeface="Cambria Math"/>
                <a:ea typeface="Cambria Math"/>
                <a:cs typeface="Cambria Math"/>
              </a:rPr>
              <a:t>+= a</a:t>
            </a:r>
            <a:r>
              <a:rPr sz="810" i="0" baseline="-25000">
                <a:latin typeface="Cambria Math"/>
                <a:ea typeface="Cambria Math"/>
                <a:cs typeface="Cambria Math"/>
              </a:rPr>
              <a:t>1</a:t>
            </a:r>
            <a:r>
              <a:rPr sz="1125" i="0">
                <a:latin typeface="Cambria Math"/>
                <a:ea typeface="Cambria Math"/>
                <a:cs typeface="Cambria Math"/>
              </a:rPr>
              <a:t> X</a:t>
            </a:r>
            <a:r>
              <a:rPr sz="810" i="0" baseline="-25000">
                <a:latin typeface="Cambria Math"/>
                <a:ea typeface="Cambria Math"/>
                <a:cs typeface="Cambria Math"/>
              </a:rPr>
              <a:t>1,1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8442CD9-694E-4963-910F-9AA53BDF3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91050"/>
            <a:ext cx="10668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EAFB"/>
          </a:solidFill>
          <a:ln xmlns:a="http://schemas.openxmlformats.org/drawingml/2006/main" w="11430">
            <a:solidFill>
              <a:srgbClr val="7C2D8E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7C2D8E"/>
                </a:solidFill>
                <a:latin typeface="Cambria Math"/>
                <a:ea typeface="Cambria Math"/>
                <a:cs typeface="Cambria Math"/>
              </a:defRPr>
            </a:pPr>
            <a:r>
              <a:rPr sz="1275" i="0">
                <a:latin typeface="Cambria Math"/>
                <a:ea typeface="Cambria Math"/>
                <a:cs typeface="Cambria Math"/>
              </a:rPr>
              <a:t>acc</a:t>
            </a:r>
            <a:r>
              <a:rPr sz="918" i="0" baseline="-25000">
                <a:latin typeface="Cambria Math"/>
                <a:ea typeface="Cambria Math"/>
                <a:cs typeface="Cambria Math"/>
              </a:rPr>
              <a:t>1</a:t>
            </a:r>
            <a:r>
              <a:rPr sz="1275" i="0">
                <a:latin typeface="Cambria Math"/>
                <a:ea typeface="Cambria Math"/>
                <a:cs typeface="Cambria Math"/>
              </a:rPr>
              <a:t>[…]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3D61048-2BA4-44CC-9A27-C20BF4312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905375"/>
            <a:ext cx="1066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7C2D8E"/>
                </a:solidFill>
                <a:latin typeface="Cambria Math"/>
                <a:ea typeface="Cambria Math"/>
                <a:cs typeface="Cambria Math"/>
              </a:defRPr>
            </a:pPr>
            <a:r>
              <a:t>…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607B80B-8A83-4B92-B91A-A83692F39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591050"/>
            <a:ext cx="10668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EAFB"/>
          </a:solidFill>
          <a:ln xmlns:a="http://schemas.openxmlformats.org/drawingml/2006/main" w="11430">
            <a:solidFill>
              <a:srgbClr val="7C2D8E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7C2D8E"/>
                </a:solidFill>
                <a:latin typeface="Cambria Math"/>
                <a:ea typeface="Cambria Math"/>
                <a:cs typeface="Cambria Math"/>
              </a:defRPr>
            </a:pPr>
            <a:r>
              <a:rPr sz="1275" i="0">
                <a:latin typeface="Cambria Math"/>
                <a:ea typeface="Cambria Math"/>
                <a:cs typeface="Cambria Math"/>
              </a:rPr>
              <a:t>acc</a:t>
            </a:r>
            <a:r>
              <a:rPr sz="918" i="0" baseline="-25000">
                <a:latin typeface="Cambria Math"/>
                <a:ea typeface="Cambria Math"/>
                <a:cs typeface="Cambria Math"/>
              </a:rPr>
              <a:t>1</a:t>
            </a:r>
            <a:r>
              <a:rPr sz="1275" i="0">
                <a:latin typeface="Cambria Math"/>
                <a:ea typeface="Cambria Math"/>
                <a:cs typeface="Cambria Math"/>
              </a:rPr>
              <a:t>[k−1]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E3A760B-61A6-459F-8843-AC58366BF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905375"/>
            <a:ext cx="1066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C2D8E"/>
                </a:solidFill>
                <a:latin typeface="Cambria Math"/>
                <a:ea typeface="Cambria Math"/>
                <a:cs typeface="Cambria Math"/>
              </a:defRPr>
            </a:pPr>
            <a:r>
              <a:rPr sz="1125" i="0">
                <a:latin typeface="Cambria Math"/>
                <a:ea typeface="Cambria Math"/>
                <a:cs typeface="Cambria Math"/>
              </a:rPr>
              <a:t>+= a</a:t>
            </a:r>
            <a:r>
              <a:rPr sz="810" i="0" baseline="-25000">
                <a:latin typeface="Cambria Math"/>
                <a:ea typeface="Cambria Math"/>
                <a:cs typeface="Cambria Math"/>
              </a:rPr>
              <a:t>1</a:t>
            </a:r>
            <a:r>
              <a:rPr sz="1125" i="0">
                <a:latin typeface="Cambria Math"/>
                <a:ea typeface="Cambria Math"/>
                <a:cs typeface="Cambria Math"/>
              </a:rPr>
              <a:t> X</a:t>
            </a:r>
            <a:r>
              <a:rPr sz="810" i="0" baseline="-25000">
                <a:latin typeface="Cambria Math"/>
                <a:ea typeface="Cambria Math"/>
                <a:cs typeface="Cambria Math"/>
              </a:rPr>
              <a:t>1,k−1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805CF03-014C-4070-BC48-B24ECCCF6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143375"/>
            <a:ext cx="31051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9B62"/>
          </a:solidFill>
          <a:ln xmlns:a="http://schemas.openxmlformats.org/drawingml/2006/main" w="4763">
            <a:solidFill>
              <a:srgbClr val="249B62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586FA81-C79B-4D7D-8206-93A5DD07D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4276725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9B62"/>
                </a:solidFill>
                <a:latin typeface="Aptos"/>
                <a:ea typeface="Aptos"/>
                <a:cs typeface="Aptos"/>
              </a:defRPr>
            </a:pPr>
            <a:r>
              <a:t>ciclo più interno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09EEF69-C9E5-4E24-8984-ACF75D398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943350"/>
            <a:ext cx="2324100" cy="55245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FFF2DF"/>
          </a:solidFill>
          <a:ln xmlns:a="http://schemas.openxmlformats.org/drawingml/2006/main" w="14288">
            <a:solidFill>
              <a:srgbClr val="E58A2B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E58A2B"/>
                </a:solidFill>
                <a:latin typeface="Aptos"/>
                <a:ea typeface="Aptos"/>
                <a:cs typeface="Aptos"/>
              </a:defRPr>
            </a:pPr>
            <a:r>
              <a:t>k accumulatori privati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623C322-C2DB-40C2-B653-B2F9CFBF5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495800"/>
            <a:ext cx="2324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uno per ogni colonna di Y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4DC78A0-C89A-4881-B1D8-BD3EEFE94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1049000" cy="4572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FF8D9"/>
          </a:solidFill>
          <a:ln xmlns:a="http://schemas.openxmlformats.org/drawingml/2006/main" w="15240">
            <a:solidFill>
              <a:srgbClr val="D9A400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7365D"/>
                </a:solidFill>
                <a:latin typeface="Aptos"/>
                <a:ea typeface="Aptos"/>
                <a:cs typeface="Aptos"/>
              </a:defRPr>
            </a:pPr>
            <a:r>
              <a:t>La lane riusa lo stesso A₀ⱼ per aggiornare tutti i k accumulatori prima di cambiare j</a:t>
            </a:r>
          </a:p>
        </p:txBody>
      </p:sp>
    </p:spTree>
    <p:extLst>
      <p:ext uri="{BB962C8B-B14F-4D97-AF65-F5344CB8AC3E}">
        <p14:creationId xmlns:p14="http://schemas.microsoft.com/office/powerpoint/2010/main" val="8737570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48A581C-AC23-4C73-951F-FD8327681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4300"/>
            <a:ext cx="11544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7365D"/>
                </a:solidFill>
                <a:latin typeface="Aptos Display"/>
                <a:ea typeface="Aptos Display"/>
                <a:cs typeface="Aptos Display"/>
              </a:defRPr>
            </a:pPr>
            <a:r>
              <a:t>Ciclo esterno su j: ogni lane avanza di 32 elementi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943D8F-47BE-4355-8AC9-2547C7CB6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52450"/>
            <a:ext cx="1154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A9D5"/>
          </a:solidFill>
          <a:ln xmlns:a="http://schemas.openxmlformats.org/drawingml/2006/main" w="0">
            <a:solidFill>
              <a:srgbClr val="83A9D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367AE8-63E6-44A3-A3AF-97EE329D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609600"/>
            <a:ext cx="1152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Gli accumulatori restano gli stessi mentre cambia il blocco della riga di 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606792-4CC4-4F8F-B658-9DB58609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914400"/>
            <a:ext cx="6638925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659B7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90614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659B7"/>
                </a:solidFill>
                <a:latin typeface="Aptos"/>
                <a:ea typeface="Aptos"/>
                <a:cs typeface="Aptos"/>
              </a:defRPr>
            </a:pPr>
            <a:r>
              <a:t>Riga di A: due iterazioni consecutive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0F0EFD-252E-466A-9519-1C0B1FD82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90650"/>
            <a:ext cx="5905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1659B7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659B7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A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0,0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3389D5-54B7-4F5C-9BD5-F460D8C55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1390650"/>
            <a:ext cx="5905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A445B8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7C2D8E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A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0,1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77AFF7-9977-4956-AD18-11E29BF2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1390650"/>
            <a:ext cx="5905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8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24364B"/>
                </a:solidFill>
                <a:latin typeface="Cambria Math"/>
                <a:ea typeface="Cambria Math"/>
                <a:cs typeface="Cambria Math"/>
              </a:defRPr>
            </a:pPr>
            <a:r>
              <a:t>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57F7C1-5896-4A69-82C0-630CA508D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1390650"/>
            <a:ext cx="5905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8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24364B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A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0,30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387AF9-6118-47D1-BBB1-E363B0E86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1390650"/>
            <a:ext cx="5905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8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24364B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A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0,31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52F1DE-324A-489C-9764-4D60B4358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390650"/>
            <a:ext cx="5905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20955">
            <a:solidFill>
              <a:srgbClr val="1659B7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659B7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A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0,32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B1FC1A-4EF9-4452-835B-A8CCA77B9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1390650"/>
            <a:ext cx="5905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AFB"/>
          </a:solidFill>
          <a:ln xmlns:a="http://schemas.openxmlformats.org/drawingml/2006/main" w="20955">
            <a:solidFill>
              <a:srgbClr val="A445B8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7C2D8E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A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0,33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73F9C7-EE78-40E5-A133-B8E3B0B3C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390650"/>
            <a:ext cx="5905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0"/>
          </a:solidFill>
          <a:ln xmlns:a="http://schemas.openxmlformats.org/drawingml/2006/main" w="10478">
            <a:solidFill>
              <a:srgbClr val="249B62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24364B"/>
                </a:solidFill>
                <a:latin typeface="Cambria Math"/>
                <a:ea typeface="Cambria Math"/>
                <a:cs typeface="Cambria Math"/>
              </a:defRPr>
            </a:pPr>
            <a:r>
              <a:t>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1CFCC3-9525-4C8C-8776-15EC18F63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1390650"/>
            <a:ext cx="5905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0"/>
          </a:solidFill>
          <a:ln xmlns:a="http://schemas.openxmlformats.org/drawingml/2006/main" w="10478">
            <a:solidFill>
              <a:srgbClr val="249B62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24364B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A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0,62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AF242F-9B61-41B7-B682-523AC5F55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1390650"/>
            <a:ext cx="5905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0"/>
          </a:solidFill>
          <a:ln xmlns:a="http://schemas.openxmlformats.org/drawingml/2006/main" w="10478">
            <a:solidFill>
              <a:srgbClr val="249B62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24364B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A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0,63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AD6DE6-6707-42B9-B792-1FABC037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276350"/>
            <a:ext cx="0" cy="781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38">
            <a:solidFill>
              <a:srgbClr val="E58A2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AC9722-12C4-416D-93E5-BDA75B60B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primo blocco: j = 0…31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3CD8A9-36E3-438F-9272-7E04ED0F5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9240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9B62"/>
                </a:solidFill>
                <a:latin typeface="Aptos"/>
                <a:ea typeface="Aptos"/>
                <a:cs typeface="Aptos"/>
              </a:defRPr>
            </a:pPr>
            <a:r>
              <a:t>blocco successivo: j = 32…63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DE71A2-5F0B-4714-9117-B5E028148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52675"/>
            <a:ext cx="3476625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8A2B"/>
          </a:solidFill>
          <a:ln xmlns:a="http://schemas.openxmlformats.org/drawingml/2006/main" w="4763">
            <a:solidFill>
              <a:srgbClr val="E58A2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23CADB-1B95-4996-B4D7-41E6A86B9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514600"/>
            <a:ext cx="1857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E58A2B"/>
                </a:solidFill>
                <a:latin typeface="Aptos"/>
                <a:ea typeface="Aptos"/>
                <a:cs typeface="Aptos"/>
              </a:defRPr>
            </a:pPr>
            <a:r>
              <a:t>j ← j + 32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709A0F-9763-4B7A-A55A-570A90671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800350"/>
            <a:ext cx="8953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3335">
            <a:solidFill>
              <a:srgbClr val="1659B7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659B7"/>
                </a:solidFill>
                <a:latin typeface="Aptos"/>
                <a:ea typeface="Aptos"/>
                <a:cs typeface="Aptos"/>
              </a:defRPr>
            </a:pPr>
            <a:r>
              <a:t>lane 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566F32-AD42-465C-8132-BD90A078F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781300"/>
            <a:ext cx="952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659B7"/>
                </a:solidFill>
                <a:latin typeface="Cambria Math"/>
                <a:ea typeface="Cambria Math"/>
                <a:cs typeface="Cambria Math"/>
              </a:defRPr>
            </a:pPr>
            <a:r>
              <a:rPr sz="1425" i="0">
                <a:latin typeface="Cambria Math"/>
                <a:ea typeface="Cambria Math"/>
                <a:cs typeface="Cambria Math"/>
              </a:rPr>
              <a:t>A</a:t>
            </a:r>
            <a:r>
              <a:rPr sz="1026" i="0" baseline="-25000">
                <a:latin typeface="Cambria Math"/>
                <a:ea typeface="Cambria Math"/>
                <a:cs typeface="Cambria Math"/>
              </a:rPr>
              <a:t>0,0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6F482B-1977-42F0-8BEB-99C7B2567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867025"/>
            <a:ext cx="83820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59B7"/>
          </a:solidFill>
          <a:ln xmlns:a="http://schemas.openxmlformats.org/drawingml/2006/main" w="4763">
            <a:solidFill>
              <a:srgbClr val="1659B7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0ADD8D-200A-4BC6-B05C-0041A5142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781300"/>
            <a:ext cx="1047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659B7"/>
                </a:solidFill>
                <a:latin typeface="Cambria Math"/>
                <a:ea typeface="Cambria Math"/>
                <a:cs typeface="Cambria Math"/>
              </a:defRPr>
            </a:pPr>
            <a:r>
              <a:rPr sz="1425" i="0">
                <a:latin typeface="Cambria Math"/>
                <a:ea typeface="Cambria Math"/>
                <a:cs typeface="Cambria Math"/>
              </a:rPr>
              <a:t>A</a:t>
            </a:r>
            <a:r>
              <a:rPr sz="1026" i="0" baseline="-25000">
                <a:latin typeface="Cambria Math"/>
                <a:ea typeface="Cambria Math"/>
                <a:cs typeface="Cambria Math"/>
              </a:rPr>
              <a:t>0,32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09CD16-254F-41B3-A936-8A44D22C8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8953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7EAFB"/>
          </a:solidFill>
          <a:ln xmlns:a="http://schemas.openxmlformats.org/drawingml/2006/main" w="13335">
            <a:solidFill>
              <a:srgbClr val="7C2D8E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7C2D8E"/>
                </a:solidFill>
                <a:latin typeface="Aptos"/>
                <a:ea typeface="Aptos"/>
                <a:cs typeface="Aptos"/>
              </a:defRPr>
            </a:pPr>
            <a:r>
              <a:t>lane 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B4F456-A847-4C0F-A7AB-E72DE576E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781300"/>
            <a:ext cx="9239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7C2D8E"/>
                </a:solidFill>
                <a:latin typeface="Cambria Math"/>
                <a:ea typeface="Cambria Math"/>
                <a:cs typeface="Cambria Math"/>
              </a:defRPr>
            </a:pPr>
            <a:r>
              <a:rPr sz="1425" i="0">
                <a:latin typeface="Cambria Math"/>
                <a:ea typeface="Cambria Math"/>
                <a:cs typeface="Cambria Math"/>
              </a:rPr>
              <a:t>A</a:t>
            </a:r>
            <a:r>
              <a:rPr sz="1026" i="0" baseline="-25000">
                <a:latin typeface="Cambria Math"/>
                <a:ea typeface="Cambria Math"/>
                <a:cs typeface="Cambria Math"/>
              </a:rPr>
              <a:t>0,1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14AB8E-E78F-451A-BD4A-47777C7A1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867025"/>
            <a:ext cx="638175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445B8"/>
          </a:solidFill>
          <a:ln xmlns:a="http://schemas.openxmlformats.org/drawingml/2006/main" w="4763">
            <a:solidFill>
              <a:srgbClr val="A445B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F297B5-B020-4CE0-8A9A-10126A7FA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914400"/>
            <a:ext cx="4181475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49B62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90614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49B62"/>
                </a:solidFill>
                <a:latin typeface="Aptos"/>
                <a:ea typeface="Aptos"/>
                <a:cs typeface="Aptos"/>
              </a:defRPr>
            </a:pPr>
            <a:r>
              <a:t>X column-major: righe lette nello stesso passo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1E0BB5-B0C9-4348-92FA-E317A05C8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1620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c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299032-A43B-418A-8E8F-7B53BC951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162050"/>
            <a:ext cx="759619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3B3BE3-2488-4619-8EA7-7CBE7303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0669" y="1162050"/>
            <a:ext cx="759619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EBB0A7-7AA1-4494-914D-F8A4D32F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0288" y="1162050"/>
            <a:ext cx="759619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…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0BB7FA-187F-47BA-9170-775B799EB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9906" y="1162050"/>
            <a:ext cx="759619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k−1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E85C01-A849-41FC-8C49-1D91466C1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438275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B8C7D9"/>
                </a:solidFill>
                <a:latin typeface="Aptos"/>
                <a:ea typeface="Aptos"/>
                <a:cs typeface="Aptos"/>
              </a:defRPr>
            </a:pPr>
            <a:r>
              <a:t>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18B8F17-D75E-49ED-8B4E-57C93EF4D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438275"/>
            <a:ext cx="759619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10478">
            <a:solidFill>
              <a:srgbClr val="B8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4748B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X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0,0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2966C40-9EAA-47D7-9559-CE5559E8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0669" y="1438275"/>
            <a:ext cx="759619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10478">
            <a:solidFill>
              <a:srgbClr val="B8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4748B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X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0,1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CA950E7-CD83-42C0-8DDE-E79D823E8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0288" y="1438275"/>
            <a:ext cx="759619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10478">
            <a:solidFill>
              <a:srgbClr val="B8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4748B"/>
                </a:solidFill>
                <a:latin typeface="Cambria Math"/>
                <a:ea typeface="Cambria Math"/>
                <a:cs typeface="Cambria Math"/>
              </a:defRPr>
            </a:pPr>
            <a:r>
              <a:t>…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C54C7DB-2DC3-4FA2-868F-5DDE5775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9906" y="1438275"/>
            <a:ext cx="759619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10478">
            <a:solidFill>
              <a:srgbClr val="B8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4748B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X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0,k−1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48D3D42-02F9-478D-973B-AE0E044B9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800225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B8C7D9"/>
                </a:solidFill>
                <a:latin typeface="Aptos"/>
                <a:ea typeface="Aptos"/>
                <a:cs typeface="Aptos"/>
              </a:defRPr>
            </a:pPr>
            <a:r>
              <a:t>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56371E1-8D09-4C28-97E9-52BDD556E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800225"/>
            <a:ext cx="759619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10478">
            <a:solidFill>
              <a:srgbClr val="B8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4748B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X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1,0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33CF7C6-1B82-4A8A-BF4B-871471511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0669" y="1800225"/>
            <a:ext cx="759619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10478">
            <a:solidFill>
              <a:srgbClr val="B8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4748B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X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1,1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29340A2-5B71-4340-9BB8-A2B9D9C1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0288" y="1800225"/>
            <a:ext cx="759619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10478">
            <a:solidFill>
              <a:srgbClr val="B8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4748B"/>
                </a:solidFill>
                <a:latin typeface="Cambria Math"/>
                <a:ea typeface="Cambria Math"/>
                <a:cs typeface="Cambria Math"/>
              </a:defRPr>
            </a:pPr>
            <a:r>
              <a:t>…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C30E4F2-CAEE-4DE9-86C1-B73F4898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9906" y="1800225"/>
            <a:ext cx="759619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10478">
            <a:solidFill>
              <a:srgbClr val="B8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4748B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X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1,k−1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6A9B622-C99A-4A1C-AEAB-4128D24AC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62175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B8C7D9"/>
                </a:solidFill>
                <a:latin typeface="Aptos"/>
                <a:ea typeface="Aptos"/>
                <a:cs typeface="Aptos"/>
              </a:defRPr>
            </a:pPr>
            <a:r>
              <a:t>…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01B724B-E5B1-4546-AEB8-987C6F6D1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62175"/>
            <a:ext cx="759619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8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24364B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X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…,0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5A910D0-822B-4360-8BD9-56E5E31B3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0669" y="2162175"/>
            <a:ext cx="759619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8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24364B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X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…,1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4BE9A66-9E40-45DC-A12C-0D9BE1DE3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0288" y="2162175"/>
            <a:ext cx="759619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8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24364B"/>
                </a:solidFill>
                <a:latin typeface="Cambria Math"/>
                <a:ea typeface="Cambria Math"/>
                <a:cs typeface="Cambria Math"/>
              </a:defRPr>
            </a:pPr>
            <a:r>
              <a:t>…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4669D19-7EE2-487F-AA6A-449EA25B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9906" y="2162175"/>
            <a:ext cx="759619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8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24364B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X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…,k−1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E8E39FB-86FC-4906-8E5A-F1AA0163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24125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B8C7D9"/>
                </a:solidFill>
                <a:latin typeface="Aptos"/>
                <a:ea typeface="Aptos"/>
                <a:cs typeface="Aptos"/>
              </a:defRPr>
            </a:pPr>
            <a:r>
              <a:t>31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D9BAF9E-C8FD-412D-BE1C-91AE487BD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24125"/>
            <a:ext cx="759619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10478">
            <a:solidFill>
              <a:srgbClr val="B8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4748B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X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31,0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64899DB-F64E-4294-A990-68E129010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0669" y="2524125"/>
            <a:ext cx="759619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10478">
            <a:solidFill>
              <a:srgbClr val="B8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4748B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X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31,1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ACE6071-7D05-4797-86FE-6EBE9ECC1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0288" y="2524125"/>
            <a:ext cx="759619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10478">
            <a:solidFill>
              <a:srgbClr val="B8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4748B"/>
                </a:solidFill>
                <a:latin typeface="Cambria Math"/>
                <a:ea typeface="Cambria Math"/>
                <a:cs typeface="Cambria Math"/>
              </a:defRPr>
            </a:pPr>
            <a:r>
              <a:t>…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5932BA8-66E3-4FBB-B17C-805170E4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9906" y="2524125"/>
            <a:ext cx="759619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10478">
            <a:solidFill>
              <a:srgbClr val="B8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4748B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X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31,k−1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F49CF76-1C67-4113-9A12-0E8B7AB2F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886075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659B7"/>
                </a:solidFill>
                <a:latin typeface="Aptos"/>
                <a:ea typeface="Aptos"/>
                <a:cs typeface="Aptos"/>
              </a:defRPr>
            </a:pPr>
            <a:r>
              <a:t>32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4FEB49C-0FA3-4856-BDCF-E5FAB83D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86075"/>
            <a:ext cx="759619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17145">
            <a:solidFill>
              <a:srgbClr val="1659B7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659B7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X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32,0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7DD36CF-4F42-49BF-AD9B-484CF038F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0669" y="2886075"/>
            <a:ext cx="759619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17145">
            <a:solidFill>
              <a:srgbClr val="1659B7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659B7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X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32,1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085E059-747A-43F9-9CBF-D1BC1AB16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0288" y="2886075"/>
            <a:ext cx="759619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17145">
            <a:solidFill>
              <a:srgbClr val="1659B7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659B7"/>
                </a:solidFill>
                <a:latin typeface="Cambria Math"/>
                <a:ea typeface="Cambria Math"/>
                <a:cs typeface="Cambria Math"/>
              </a:defRPr>
            </a:pPr>
            <a:r>
              <a:t>…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0A5B02D-8C0A-4EDA-8244-76071B655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9906" y="2886075"/>
            <a:ext cx="759619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17145">
            <a:solidFill>
              <a:srgbClr val="1659B7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659B7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X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32,k−1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FB290EA-A4C6-49F2-B288-44CC0D81B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248025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A445B8"/>
                </a:solidFill>
                <a:latin typeface="Aptos"/>
                <a:ea typeface="Aptos"/>
                <a:cs typeface="Aptos"/>
              </a:defRPr>
            </a:pPr>
            <a:r>
              <a:t>33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AB688BE-35EC-4B3D-B74D-0146A55B4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48025"/>
            <a:ext cx="759619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AFB"/>
          </a:solidFill>
          <a:ln xmlns:a="http://schemas.openxmlformats.org/drawingml/2006/main" w="17145">
            <a:solidFill>
              <a:srgbClr val="A445B8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7C2D8E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X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33,0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79FE899-47F6-4CBA-A44F-B2DD43DD1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0669" y="3248025"/>
            <a:ext cx="759619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AFB"/>
          </a:solidFill>
          <a:ln xmlns:a="http://schemas.openxmlformats.org/drawingml/2006/main" w="17145">
            <a:solidFill>
              <a:srgbClr val="A445B8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7C2D8E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X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33,1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0FBDCE5-7E4B-43B5-A397-3CBC103B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0288" y="3248025"/>
            <a:ext cx="759619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AFB"/>
          </a:solidFill>
          <a:ln xmlns:a="http://schemas.openxmlformats.org/drawingml/2006/main" w="17145">
            <a:solidFill>
              <a:srgbClr val="A445B8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7C2D8E"/>
                </a:solidFill>
                <a:latin typeface="Cambria Math"/>
                <a:ea typeface="Cambria Math"/>
                <a:cs typeface="Cambria Math"/>
              </a:defRPr>
            </a:pPr>
            <a:r>
              <a:t>…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864F614-691E-400C-B12D-E82F5DD5C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9906" y="3248025"/>
            <a:ext cx="759619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AFB"/>
          </a:solidFill>
          <a:ln xmlns:a="http://schemas.openxmlformats.org/drawingml/2006/main" w="17145">
            <a:solidFill>
              <a:srgbClr val="A445B8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7C2D8E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X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33,k−1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D6E2606-E1A9-4C1D-A618-FADBB6B91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609975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B8C7D9"/>
                </a:solidFill>
                <a:latin typeface="Aptos"/>
                <a:ea typeface="Aptos"/>
                <a:cs typeface="Aptos"/>
              </a:defRPr>
            </a:pPr>
            <a:r>
              <a:t>…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078D79D-6796-44AC-8D6A-7719B807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09975"/>
            <a:ext cx="759619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8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24364B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X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…,0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950F7FF-9F7A-42CB-9FF4-6F44E162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0669" y="3609975"/>
            <a:ext cx="759619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8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24364B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X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…,1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1326187-BCAC-4112-9DB1-CD0429FE4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0288" y="3609975"/>
            <a:ext cx="759619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8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24364B"/>
                </a:solidFill>
                <a:latin typeface="Cambria Math"/>
                <a:ea typeface="Cambria Math"/>
                <a:cs typeface="Cambria Math"/>
              </a:defRPr>
            </a:pPr>
            <a:r>
              <a:t>…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2185B7B-4103-4524-9D18-9D70D05B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9906" y="3609975"/>
            <a:ext cx="759619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8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24364B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X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…,k−1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A9ACB39-6582-46FA-8E78-F3FC18F6E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71925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249B62"/>
                </a:solidFill>
                <a:latin typeface="Aptos"/>
                <a:ea typeface="Aptos"/>
                <a:cs typeface="Aptos"/>
              </a:defRPr>
            </a:pPr>
            <a:r>
              <a:t>63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AF61334-227A-47A7-96F0-B97D898D5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971925"/>
            <a:ext cx="759619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0"/>
          </a:solidFill>
          <a:ln xmlns:a="http://schemas.openxmlformats.org/drawingml/2006/main" w="10478">
            <a:solidFill>
              <a:srgbClr val="249B62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24364B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X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63,0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CFFC63F-7587-4AEE-8A99-E891CF741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0669" y="3971925"/>
            <a:ext cx="759619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0"/>
          </a:solidFill>
          <a:ln xmlns:a="http://schemas.openxmlformats.org/drawingml/2006/main" w="10478">
            <a:solidFill>
              <a:srgbClr val="249B62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24364B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X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63,1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0C6A96C-B406-40C9-B0CC-468B8577D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0288" y="3971925"/>
            <a:ext cx="759619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0"/>
          </a:solidFill>
          <a:ln xmlns:a="http://schemas.openxmlformats.org/drawingml/2006/main" w="10478">
            <a:solidFill>
              <a:srgbClr val="249B62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24364B"/>
                </a:solidFill>
                <a:latin typeface="Cambria Math"/>
                <a:ea typeface="Cambria Math"/>
                <a:cs typeface="Cambria Math"/>
              </a:defRPr>
            </a:pPr>
            <a:r>
              <a:t>…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FAEE7B4-F7A7-4BA7-8AA3-D19636CDB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9906" y="3971925"/>
            <a:ext cx="759619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0"/>
          </a:solidFill>
          <a:ln xmlns:a="http://schemas.openxmlformats.org/drawingml/2006/main" w="10478">
            <a:solidFill>
              <a:srgbClr val="249B62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24364B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X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63,k−1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7430912-8426-4D82-8516-C66279436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71850"/>
            <a:ext cx="672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7365D"/>
                </a:solidFill>
                <a:latin typeface="Aptos"/>
                <a:ea typeface="Aptos"/>
                <a:cs typeface="Aptos"/>
              </a:defRPr>
            </a:pPr>
            <a:r>
              <a:t>Gli stessi accumulatori ricevono il contributo del blocco successivo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3FFEC97-1B78-43AE-80BF-4CF960F2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8953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3335">
            <a:solidFill>
              <a:srgbClr val="1659B7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659B7"/>
                </a:solidFill>
                <a:latin typeface="Aptos"/>
                <a:ea typeface="Aptos"/>
                <a:cs typeface="Aptos"/>
              </a:defRPr>
            </a:pPr>
            <a:r>
              <a:t>lane 0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CD587CB-5CDE-4734-B4E9-1D89E8CED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3800475"/>
            <a:ext cx="1257300" cy="5715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4288">
            <a:solidFill>
              <a:srgbClr val="1659B7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659B7"/>
                </a:solidFill>
                <a:latin typeface="Cambria Math"/>
                <a:ea typeface="Cambria Math"/>
                <a:cs typeface="Cambria Math"/>
              </a:defRPr>
            </a:pPr>
            <a:r>
              <a:rPr sz="1575" i="0">
                <a:latin typeface="Cambria Math"/>
                <a:ea typeface="Cambria Math"/>
                <a:cs typeface="Cambria Math"/>
              </a:rPr>
              <a:t>acc</a:t>
            </a:r>
            <a:r>
              <a:rPr sz="1134" i="0" baseline="-25000">
                <a:latin typeface="Cambria Math"/>
                <a:ea typeface="Cambria Math"/>
                <a:cs typeface="Cambria Math"/>
              </a:rPr>
              <a:t>0</a:t>
            </a:r>
            <a:r>
              <a:rPr sz="1575" i="0">
                <a:latin typeface="Cambria Math"/>
                <a:ea typeface="Cambria Math"/>
                <a:cs typeface="Cambria Math"/>
              </a:rPr>
              <a:t>[c]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444E396-D084-430F-BA87-7C20C6AEE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800475"/>
            <a:ext cx="333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24364B"/>
                </a:solidFill>
                <a:latin typeface="Aptos"/>
                <a:ea typeface="Aptos"/>
                <a:cs typeface="Aptos"/>
              </a:defRPr>
            </a:pPr>
            <a:r>
              <a:t>=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DA5C50D-F1A3-45F1-9BAE-BAD5710C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800475"/>
            <a:ext cx="1552575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10478">
            <a:solidFill>
              <a:srgbClr val="B8C7D9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64748B"/>
                </a:solidFill>
                <a:latin typeface="Cambria Math"/>
                <a:ea typeface="Cambria Math"/>
                <a:cs typeface="Cambria Math"/>
              </a:defRPr>
            </a:pPr>
            <a:r>
              <a:rPr sz="1500" i="0">
                <a:latin typeface="Cambria Math"/>
                <a:ea typeface="Cambria Math"/>
                <a:cs typeface="Cambria Math"/>
              </a:rPr>
              <a:t>A</a:t>
            </a:r>
            <a:r>
              <a:rPr sz="1080" i="0" baseline="-25000">
                <a:latin typeface="Cambria Math"/>
                <a:ea typeface="Cambria Math"/>
                <a:cs typeface="Cambria Math"/>
              </a:rPr>
              <a:t>0,0</a:t>
            </a:r>
            <a:r>
              <a:rPr sz="1500" i="0">
                <a:latin typeface="Cambria Math"/>
                <a:ea typeface="Cambria Math"/>
                <a:cs typeface="Cambria Math"/>
              </a:rPr>
              <a:t> X</a:t>
            </a:r>
            <a:r>
              <a:rPr sz="1080" i="0" baseline="-25000">
                <a:latin typeface="Cambria Math"/>
                <a:ea typeface="Cambria Math"/>
                <a:cs typeface="Cambria Math"/>
              </a:rPr>
              <a:t>0,c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11CD1D0-AB4E-4739-BA58-693BB0D61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800475"/>
            <a:ext cx="333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E58A2B"/>
                </a:solidFill>
                <a:latin typeface="Aptos"/>
                <a:ea typeface="Aptos"/>
                <a:cs typeface="Aptos"/>
              </a:defRPr>
            </a:pPr>
            <a:r>
              <a:t>+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212BBE4-D591-47DE-B815-A2624809F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800475"/>
            <a:ext cx="1685925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4288">
            <a:solidFill>
              <a:srgbClr val="1659B7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659B7"/>
                </a:solidFill>
                <a:latin typeface="Cambria Math"/>
                <a:ea typeface="Cambria Math"/>
                <a:cs typeface="Cambria Math"/>
              </a:defRPr>
            </a:pPr>
            <a:r>
              <a:rPr sz="1500" i="0">
                <a:latin typeface="Cambria Math"/>
                <a:ea typeface="Cambria Math"/>
                <a:cs typeface="Cambria Math"/>
              </a:rPr>
              <a:t>A</a:t>
            </a:r>
            <a:r>
              <a:rPr sz="1080" i="0" baseline="-25000">
                <a:latin typeface="Cambria Math"/>
                <a:ea typeface="Cambria Math"/>
                <a:cs typeface="Cambria Math"/>
              </a:rPr>
              <a:t>0,32</a:t>
            </a:r>
            <a:r>
              <a:rPr sz="1500" i="0">
                <a:latin typeface="Cambria Math"/>
                <a:ea typeface="Cambria Math"/>
                <a:cs typeface="Cambria Math"/>
              </a:rPr>
              <a:t> X</a:t>
            </a:r>
            <a:r>
              <a:rPr sz="1080" i="0" baseline="-25000">
                <a:latin typeface="Cambria Math"/>
                <a:ea typeface="Cambria Math"/>
                <a:cs typeface="Cambria Math"/>
              </a:rPr>
              <a:t>32,c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FADE2B1-2A51-4CC3-BBAF-5C2AE73F2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962525"/>
            <a:ext cx="8953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7EAFB"/>
          </a:solidFill>
          <a:ln xmlns:a="http://schemas.openxmlformats.org/drawingml/2006/main" w="13335">
            <a:solidFill>
              <a:srgbClr val="7C2D8E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7C2D8E"/>
                </a:solidFill>
                <a:latin typeface="Aptos"/>
                <a:ea typeface="Aptos"/>
                <a:cs typeface="Aptos"/>
              </a:defRPr>
            </a:pPr>
            <a:r>
              <a:t>lane 1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8F7A54F-6EA4-46A2-8534-2E574473C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4810125"/>
            <a:ext cx="1257300" cy="5715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F7EAFB"/>
          </a:solidFill>
          <a:ln xmlns:a="http://schemas.openxmlformats.org/drawingml/2006/main" w="14288">
            <a:solidFill>
              <a:srgbClr val="7C2D8E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7C2D8E"/>
                </a:solidFill>
                <a:latin typeface="Cambria Math"/>
                <a:ea typeface="Cambria Math"/>
                <a:cs typeface="Cambria Math"/>
              </a:defRPr>
            </a:pPr>
            <a:r>
              <a:rPr sz="1575" i="0">
                <a:latin typeface="Cambria Math"/>
                <a:ea typeface="Cambria Math"/>
                <a:cs typeface="Cambria Math"/>
              </a:rPr>
              <a:t>acc</a:t>
            </a:r>
            <a:r>
              <a:rPr sz="1134" i="0" baseline="-25000">
                <a:latin typeface="Cambria Math"/>
                <a:ea typeface="Cambria Math"/>
                <a:cs typeface="Cambria Math"/>
              </a:rPr>
              <a:t>1</a:t>
            </a:r>
            <a:r>
              <a:rPr sz="1575" i="0">
                <a:latin typeface="Cambria Math"/>
                <a:ea typeface="Cambria Math"/>
                <a:cs typeface="Cambria Math"/>
              </a:rPr>
              <a:t>[c]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9B80D0F-485A-4D3E-BD33-4552A8800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810125"/>
            <a:ext cx="333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24364B"/>
                </a:solidFill>
                <a:latin typeface="Aptos"/>
                <a:ea typeface="Aptos"/>
                <a:cs typeface="Aptos"/>
              </a:defRPr>
            </a:pPr>
            <a:r>
              <a:t>=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95BA93F-5150-45C8-9E37-C959562E0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810125"/>
            <a:ext cx="1552575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10478">
            <a:solidFill>
              <a:srgbClr val="B8C7D9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64748B"/>
                </a:solidFill>
                <a:latin typeface="Cambria Math"/>
                <a:ea typeface="Cambria Math"/>
                <a:cs typeface="Cambria Math"/>
              </a:defRPr>
            </a:pPr>
            <a:r>
              <a:rPr sz="1500" i="0">
                <a:latin typeface="Cambria Math"/>
                <a:ea typeface="Cambria Math"/>
                <a:cs typeface="Cambria Math"/>
              </a:rPr>
              <a:t>A</a:t>
            </a:r>
            <a:r>
              <a:rPr sz="1080" i="0" baseline="-25000">
                <a:latin typeface="Cambria Math"/>
                <a:ea typeface="Cambria Math"/>
                <a:cs typeface="Cambria Math"/>
              </a:rPr>
              <a:t>0,1</a:t>
            </a:r>
            <a:r>
              <a:rPr sz="1500" i="0">
                <a:latin typeface="Cambria Math"/>
                <a:ea typeface="Cambria Math"/>
                <a:cs typeface="Cambria Math"/>
              </a:rPr>
              <a:t> X</a:t>
            </a:r>
            <a:r>
              <a:rPr sz="1080" i="0" baseline="-25000">
                <a:latin typeface="Cambria Math"/>
                <a:ea typeface="Cambria Math"/>
                <a:cs typeface="Cambria Math"/>
              </a:rPr>
              <a:t>1,c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2220CFD-10AB-4A7A-A6CA-28A02EB21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810125"/>
            <a:ext cx="333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E58A2B"/>
                </a:solidFill>
                <a:latin typeface="Aptos"/>
                <a:ea typeface="Aptos"/>
                <a:cs typeface="Aptos"/>
              </a:defRPr>
            </a:pPr>
            <a:r>
              <a:t>+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0328B1A-5019-487E-B0A4-74880FE2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810125"/>
            <a:ext cx="1685925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EAFB"/>
          </a:solidFill>
          <a:ln xmlns:a="http://schemas.openxmlformats.org/drawingml/2006/main" w="14288">
            <a:solidFill>
              <a:srgbClr val="7C2D8E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7C2D8E"/>
                </a:solidFill>
                <a:latin typeface="Cambria Math"/>
                <a:ea typeface="Cambria Math"/>
                <a:cs typeface="Cambria Math"/>
              </a:defRPr>
            </a:pPr>
            <a:r>
              <a:rPr sz="1500" i="0">
                <a:latin typeface="Cambria Math"/>
                <a:ea typeface="Cambria Math"/>
                <a:cs typeface="Cambria Math"/>
              </a:rPr>
              <a:t>A</a:t>
            </a:r>
            <a:r>
              <a:rPr sz="1080" i="0" baseline="-25000">
                <a:latin typeface="Cambria Math"/>
                <a:ea typeface="Cambria Math"/>
                <a:cs typeface="Cambria Math"/>
              </a:rPr>
              <a:t>0,33</a:t>
            </a:r>
            <a:r>
              <a:rPr sz="1500" i="0">
                <a:latin typeface="Cambria Math"/>
                <a:ea typeface="Cambria Math"/>
                <a:cs typeface="Cambria Math"/>
              </a:rPr>
              <a:t> X</a:t>
            </a:r>
            <a:r>
              <a:rPr sz="1080" i="0" baseline="-25000">
                <a:latin typeface="Cambria Math"/>
                <a:ea typeface="Cambria Math"/>
                <a:cs typeface="Cambria Math"/>
              </a:rPr>
              <a:t>33,c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32421BA-E0E1-429D-9F31-DBEA9FFD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591175"/>
            <a:ext cx="2667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49B62"/>
                </a:solidFill>
                <a:latin typeface="Aptos"/>
                <a:ea typeface="Aptos"/>
                <a:cs typeface="Aptos"/>
              </a:defRPr>
            </a:pPr>
            <a:r>
              <a:t>c = 0, 1, …, k−1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5469F30-41A3-48EA-B416-25598080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905500"/>
            <a:ext cx="446722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9B62"/>
          </a:solidFill>
          <a:ln xmlns:a="http://schemas.openxmlformats.org/drawingml/2006/main" w="4763">
            <a:solidFill>
              <a:srgbClr val="249B62"/>
            </a:solidFill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9932398-514A-48CB-8718-2FF199D01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857875"/>
            <a:ext cx="361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9B62"/>
                </a:solidFill>
                <a:latin typeface="Aptos"/>
                <a:ea typeface="Aptos"/>
                <a:cs typeface="Aptos"/>
              </a:defRPr>
            </a:pPr>
            <a:r>
              <a:t>il ciclo su c si ripete per ogni nuovo j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E4B4B05-E864-4DEB-89CD-EB69EDF88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686300"/>
            <a:ext cx="30575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365D"/>
                </a:solidFill>
                <a:latin typeface="Aptos"/>
                <a:ea typeface="Aptos"/>
                <a:cs typeface="Aptos"/>
              </a:defRPr>
            </a:pPr>
            <a:r>
              <a:t>Percorso generale della lane ℓ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86E87D8-F0EE-4D0E-8B86-A6E03ABC8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048250"/>
            <a:ext cx="3048000" cy="542925"/>
          </a:xfrm>
          <a:prstGeom xmlns:a="http://schemas.openxmlformats.org/drawingml/2006/main" prst="roundRect">
            <a:avLst>
              <a:gd name="adj" fmla="val 12281"/>
            </a:avLst>
          </a:prstGeom>
          <a:solidFill xmlns:a="http://schemas.openxmlformats.org/drawingml/2006/main">
            <a:srgbClr val="FFF2DF"/>
          </a:solidFill>
          <a:ln xmlns:a="http://schemas.openxmlformats.org/drawingml/2006/main" w="14288">
            <a:solidFill>
              <a:srgbClr val="E58A2B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E58A2B"/>
                </a:solidFill>
                <a:latin typeface="Aptos"/>
                <a:ea typeface="Aptos"/>
                <a:cs typeface="Aptos"/>
              </a:defRPr>
            </a:pPr>
            <a:r>
              <a:t>j = ℓ, ℓ + 32, ℓ + 64, …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A8D6A0F-0881-49F1-BB94-E6E5771FD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629275"/>
            <a:ext cx="3028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ogni passo riusa gli stessi k accumulatori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2A0B66F-A4C6-4106-9DE4-41C196CBE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1049000" cy="4572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FF8D9"/>
          </a:solidFill>
          <a:ln xmlns:a="http://schemas.openxmlformats.org/drawingml/2006/main" w="15240">
            <a:solidFill>
              <a:srgbClr val="D9A400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7365D"/>
                </a:solidFill>
                <a:latin typeface="Aptos"/>
                <a:ea typeface="Aptos"/>
                <a:cs typeface="Aptos"/>
              </a:defRPr>
            </a:pPr>
            <a:r>
              <a:t>Dopo j ← j + 32 la lane cambia coppia A–X, ma conserva e aggiorna gli stessi k accumulatori</a:t>
            </a:r>
          </a:p>
        </p:txBody>
      </p:sp>
    </p:spTree>
    <p:extLst>
      <p:ext uri="{BB962C8B-B14F-4D97-AF65-F5344CB8AC3E}">
        <p14:creationId xmlns:p14="http://schemas.microsoft.com/office/powerpoint/2010/main" val="1270607083"/>
      </p:ext>
    </p:extLst>
  </p:cSld>
</p:sld>
</file>

<file path=ppt/theme/theme1.xml><?xml version="1.0" encoding="utf-8"?>
<a:theme xmlns:a="http://schemas.openxmlformats.org/drawingml/2006/main" name="ChatGPT">
  <a:themeElements>
    <a:clrScheme name="CUDA report">
      <a:dk1>
        <a:srgbClr val="000000"/>
      </a:dk1>
      <a:lt1>
        <a:srgbClr val="FFFFFF"/>
      </a:lt1>
      <a:dk2>
        <a:srgbClr val="17365D"/>
      </a:dk2>
      <a:lt2>
        <a:srgbClr val="F5F8FC"/>
      </a:lt2>
      <a:accent1>
        <a:srgbClr val="2F80ED"/>
      </a:accent1>
      <a:accent2>
        <a:srgbClr val="249B62"/>
      </a:accent2>
      <a:accent3>
        <a:srgbClr val="E58A2B"/>
      </a:accent3>
      <a:accent4>
        <a:srgbClr val="A445B8"/>
      </a:accent4>
      <a:accent5>
        <a:srgbClr val="D9A400"/>
      </a:accent5>
      <a:accent6>
        <a:srgbClr val="1659B7"/>
      </a:accent6>
      <a:hlink>
        <a:srgbClr val="2F80ED"/>
      </a:hlink>
      <a:folHlink>
        <a:srgbClr val="A445B8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UDA repor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2026-09-16T15:15:33.1820000Z</dcterms:created>
  <dcterms:modified xsi:type="dcterms:W3CDTF">2026-09-16T15:15:33.1830000Z</dcterms:modified>
</coreProperties>
</file>